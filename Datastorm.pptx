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77" r:id="rId3"/>
    <p:sldId id="299" r:id="rId4"/>
    <p:sldId id="289" r:id="rId5"/>
    <p:sldId id="284" r:id="rId6"/>
    <p:sldId id="291" r:id="rId7"/>
    <p:sldId id="292" r:id="rId8"/>
    <p:sldId id="287" r:id="rId9"/>
    <p:sldId id="297" r:id="rId10"/>
    <p:sldId id="293" r:id="rId11"/>
    <p:sldId id="281" r:id="rId12"/>
    <p:sldId id="283" r:id="rId13"/>
    <p:sldId id="300" r:id="rId14"/>
    <p:sldId id="301" r:id="rId15"/>
    <p:sldId id="294" r:id="rId16"/>
    <p:sldId id="298" r:id="rId17"/>
    <p:sldId id="259" r:id="rId18"/>
    <p:sldId id="274" r:id="rId19"/>
    <p:sldId id="288" r:id="rId20"/>
  </p:sldIdLst>
  <p:sldSz cx="12192000" cy="6858000"/>
  <p:notesSz cx="6858000" cy="9144000"/>
  <p:defaultTextStyle>
    <a:defPPr>
      <a:defRPr lang="ru-M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1E9FF"/>
    <a:srgbClr val="BCF1EA"/>
    <a:srgbClr val="87A8D5"/>
    <a:srgbClr val="69CBD4"/>
    <a:srgbClr val="EF5E54"/>
    <a:srgbClr val="DCC96E"/>
    <a:srgbClr val="FFEB83"/>
    <a:srgbClr val="FEE67C"/>
    <a:srgbClr val="5BF1EB"/>
    <a:srgbClr val="DAE3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Светлый стиль 1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586"/>
  </p:normalViewPr>
  <p:slideViewPr>
    <p:cSldViewPr snapToGrid="0" snapToObjects="1" showGuides="1">
      <p:cViewPr varScale="1">
        <p:scale>
          <a:sx n="102" d="100"/>
          <a:sy n="102" d="100"/>
        </p:scale>
        <p:origin x="952" y="184"/>
      </p:cViewPr>
      <p:guideLst>
        <p:guide orient="horz" pos="2160"/>
        <p:guide pos="381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MD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159E57-6B48-F641-9EE4-5EA564C4CC43}" type="datetimeFigureOut">
              <a:rPr lang="ru-MD" smtClean="0"/>
              <a:t>30.10.2025</a:t>
            </a:fld>
            <a:endParaRPr lang="ru-MD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MD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MD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MD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ACDC3E-7694-2240-91A6-44F2DAEBC9F5}" type="slidenum">
              <a:rPr lang="ru-MD" smtClean="0"/>
              <a:t>‹#›</a:t>
            </a:fld>
            <a:endParaRPr lang="ru-MD"/>
          </a:p>
        </p:txBody>
      </p:sp>
    </p:spTree>
    <p:extLst>
      <p:ext uri="{BB962C8B-B14F-4D97-AF65-F5344CB8AC3E}">
        <p14:creationId xmlns:p14="http://schemas.microsoft.com/office/powerpoint/2010/main" val="69373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MD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CDC3E-7694-2240-91A6-44F2DAEBC9F5}" type="slidenum">
              <a:rPr lang="ru-MD" smtClean="0"/>
              <a:t>8</a:t>
            </a:fld>
            <a:endParaRPr lang="ru-MD"/>
          </a:p>
        </p:txBody>
      </p:sp>
    </p:spTree>
    <p:extLst>
      <p:ext uri="{BB962C8B-B14F-4D97-AF65-F5344CB8AC3E}">
        <p14:creationId xmlns:p14="http://schemas.microsoft.com/office/powerpoint/2010/main" val="11081011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MD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CDC3E-7694-2240-91A6-44F2DAEBC9F5}" type="slidenum">
              <a:rPr lang="ru-MD" smtClean="0"/>
              <a:t>9</a:t>
            </a:fld>
            <a:endParaRPr lang="ru-MD"/>
          </a:p>
        </p:txBody>
      </p:sp>
    </p:spTree>
    <p:extLst>
      <p:ext uri="{BB962C8B-B14F-4D97-AF65-F5344CB8AC3E}">
        <p14:creationId xmlns:p14="http://schemas.microsoft.com/office/powerpoint/2010/main" val="29775561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MD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CDC3E-7694-2240-91A6-44F2DAEBC9F5}" type="slidenum">
              <a:rPr lang="ru-MD" smtClean="0"/>
              <a:t>19</a:t>
            </a:fld>
            <a:endParaRPr lang="ru-MD"/>
          </a:p>
        </p:txBody>
      </p:sp>
    </p:spTree>
    <p:extLst>
      <p:ext uri="{BB962C8B-B14F-4D97-AF65-F5344CB8AC3E}">
        <p14:creationId xmlns:p14="http://schemas.microsoft.com/office/powerpoint/2010/main" val="12074359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8BDDB5-D020-DE4E-9159-6DA5A682EE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MD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228E70C-0525-1741-A72D-43AE568FBB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MD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6D97220-91F8-084A-9EF1-92B0FF05C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85DDC-1C67-144A-81A6-42D83C187609}" type="datetimeFigureOut">
              <a:rPr lang="ru-MD" smtClean="0"/>
              <a:t>30.10.2025</a:t>
            </a:fld>
            <a:endParaRPr lang="ru-MD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86F973C-BB92-294D-AFBB-7E63927EE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MD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0738247-91BA-3B4F-9464-761486A6C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712CA-EFDB-AB44-8F96-B6BA3EBC2039}" type="slidenum">
              <a:rPr lang="ru-MD" smtClean="0"/>
              <a:t>‹#›</a:t>
            </a:fld>
            <a:endParaRPr lang="ru-MD"/>
          </a:p>
        </p:txBody>
      </p:sp>
    </p:spTree>
    <p:extLst>
      <p:ext uri="{BB962C8B-B14F-4D97-AF65-F5344CB8AC3E}">
        <p14:creationId xmlns:p14="http://schemas.microsoft.com/office/powerpoint/2010/main" val="3935723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80D807-8E43-4F46-A17F-5667D4368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MD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9FA42B-DA84-AB4D-9F6E-037C5AC728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MD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9F788A8-CBCA-AC46-990D-20CFBCF21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85DDC-1C67-144A-81A6-42D83C187609}" type="datetimeFigureOut">
              <a:rPr lang="ru-MD" smtClean="0"/>
              <a:t>30.10.2025</a:t>
            </a:fld>
            <a:endParaRPr lang="ru-MD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5E5AAF2-5198-7140-B9F8-FF4DF28EC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MD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299E185-6AD0-274D-9309-44650526C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712CA-EFDB-AB44-8F96-B6BA3EBC2039}" type="slidenum">
              <a:rPr lang="ru-MD" smtClean="0"/>
              <a:t>‹#›</a:t>
            </a:fld>
            <a:endParaRPr lang="ru-MD"/>
          </a:p>
        </p:txBody>
      </p:sp>
    </p:spTree>
    <p:extLst>
      <p:ext uri="{BB962C8B-B14F-4D97-AF65-F5344CB8AC3E}">
        <p14:creationId xmlns:p14="http://schemas.microsoft.com/office/powerpoint/2010/main" val="2738115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F40277-1CC4-6B42-B1F4-3E50C746D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MD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B655F24-04F0-3243-BC44-4CE2212AD7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2786F28-C9E8-5F40-98FF-B79D3672C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85DDC-1C67-144A-81A6-42D83C187609}" type="datetimeFigureOut">
              <a:rPr lang="ru-MD" smtClean="0"/>
              <a:t>30.10.2025</a:t>
            </a:fld>
            <a:endParaRPr lang="ru-MD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5C20DE3-0E72-054E-A2C7-D5CA813EE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MD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0C69547-F88C-104E-9EB2-54D71442B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712CA-EFDB-AB44-8F96-B6BA3EBC2039}" type="slidenum">
              <a:rPr lang="ru-MD" smtClean="0"/>
              <a:t>‹#›</a:t>
            </a:fld>
            <a:endParaRPr lang="ru-MD"/>
          </a:p>
        </p:txBody>
      </p:sp>
    </p:spTree>
    <p:extLst>
      <p:ext uri="{BB962C8B-B14F-4D97-AF65-F5344CB8AC3E}">
        <p14:creationId xmlns:p14="http://schemas.microsoft.com/office/powerpoint/2010/main" val="1466581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CE64E9-85F2-754A-AC54-B8AA522E0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MD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78935E6-A40D-7E42-9BE7-23BDD5BF57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MD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0FA42D7-A53A-6742-9EF9-7F1EA6E562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MD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1B055C5-DED3-ED45-A60F-981F4C57C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85DDC-1C67-144A-81A6-42D83C187609}" type="datetimeFigureOut">
              <a:rPr lang="ru-MD" smtClean="0"/>
              <a:t>30.10.2025</a:t>
            </a:fld>
            <a:endParaRPr lang="ru-MD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655CE8A-8A59-864D-916C-1D8237CFA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MD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BE141F7-C450-9348-81F5-3C01D0B10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712CA-EFDB-AB44-8F96-B6BA3EBC2039}" type="slidenum">
              <a:rPr lang="ru-MD" smtClean="0"/>
              <a:t>‹#›</a:t>
            </a:fld>
            <a:endParaRPr lang="ru-MD"/>
          </a:p>
        </p:txBody>
      </p:sp>
    </p:spTree>
    <p:extLst>
      <p:ext uri="{BB962C8B-B14F-4D97-AF65-F5344CB8AC3E}">
        <p14:creationId xmlns:p14="http://schemas.microsoft.com/office/powerpoint/2010/main" val="84176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B533C5-B8AE-C740-98A1-C3F0AFCA1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MD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AD2AC25-1021-E340-9967-86DBAEFD4B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2E6EE28-7349-6943-BC3A-5C794C13B5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MD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5CEE499-1FC3-A04E-B0D3-6DABE34845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38C65DC-F60C-9F4A-878B-364B8CD974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MD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FF0AB0F-9D57-3440-A497-B043A4B46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85DDC-1C67-144A-81A6-42D83C187609}" type="datetimeFigureOut">
              <a:rPr lang="ru-MD" smtClean="0"/>
              <a:t>30.10.2025</a:t>
            </a:fld>
            <a:endParaRPr lang="ru-MD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0CA4750-9ABA-6048-8BAA-FFD7FF226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MD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3D61B14-50D5-5A44-A8F8-BC6E13D8B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712CA-EFDB-AB44-8F96-B6BA3EBC2039}" type="slidenum">
              <a:rPr lang="ru-MD" smtClean="0"/>
              <a:t>‹#›</a:t>
            </a:fld>
            <a:endParaRPr lang="ru-MD"/>
          </a:p>
        </p:txBody>
      </p:sp>
    </p:spTree>
    <p:extLst>
      <p:ext uri="{BB962C8B-B14F-4D97-AF65-F5344CB8AC3E}">
        <p14:creationId xmlns:p14="http://schemas.microsoft.com/office/powerpoint/2010/main" val="2554137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A368E7-42B4-5348-8787-2F7308B30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MD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B9F1798-4038-8D4C-B7E8-9DC6EA898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85DDC-1C67-144A-81A6-42D83C187609}" type="datetimeFigureOut">
              <a:rPr lang="ru-MD" smtClean="0"/>
              <a:t>30.10.2025</a:t>
            </a:fld>
            <a:endParaRPr lang="ru-MD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DDF6E98-2C65-BE45-B588-BD1C733F5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MD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737F15D-9237-2648-8C3F-8B0FCBA51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712CA-EFDB-AB44-8F96-B6BA3EBC2039}" type="slidenum">
              <a:rPr lang="ru-MD" smtClean="0"/>
              <a:t>‹#›</a:t>
            </a:fld>
            <a:endParaRPr lang="ru-MD"/>
          </a:p>
        </p:txBody>
      </p:sp>
    </p:spTree>
    <p:extLst>
      <p:ext uri="{BB962C8B-B14F-4D97-AF65-F5344CB8AC3E}">
        <p14:creationId xmlns:p14="http://schemas.microsoft.com/office/powerpoint/2010/main" val="3851695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EFAD9F3-7A97-8845-AB44-E0BEEA0E9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85DDC-1C67-144A-81A6-42D83C187609}" type="datetimeFigureOut">
              <a:rPr lang="ru-MD" smtClean="0"/>
              <a:t>30.10.2025</a:t>
            </a:fld>
            <a:endParaRPr lang="ru-MD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4798C65-9E5D-9C48-9CF5-D3F5EC336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MD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717853E-C286-0146-8393-1DFE3857A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712CA-EFDB-AB44-8F96-B6BA3EBC2039}" type="slidenum">
              <a:rPr lang="ru-MD" smtClean="0"/>
              <a:t>‹#›</a:t>
            </a:fld>
            <a:endParaRPr lang="ru-MD"/>
          </a:p>
        </p:txBody>
      </p:sp>
    </p:spTree>
    <p:extLst>
      <p:ext uri="{BB962C8B-B14F-4D97-AF65-F5344CB8AC3E}">
        <p14:creationId xmlns:p14="http://schemas.microsoft.com/office/powerpoint/2010/main" val="3961968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1059D2-E165-AD4D-ADCB-D79F8D176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MD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5B6406B-617A-B746-95A7-FD6368DF80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MD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E7315A3-A843-A844-B482-E8CD0CBE3E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F00A97E-C6A1-1E49-B0A7-6029811CD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85DDC-1C67-144A-81A6-42D83C187609}" type="datetimeFigureOut">
              <a:rPr lang="ru-MD" smtClean="0"/>
              <a:t>30.10.2025</a:t>
            </a:fld>
            <a:endParaRPr lang="ru-MD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05ABEAD-2229-BC49-AEFC-981A1C794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MD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F0D729B-956B-3A49-BACC-322EFAA4E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712CA-EFDB-AB44-8F96-B6BA3EBC2039}" type="slidenum">
              <a:rPr lang="ru-MD" smtClean="0"/>
              <a:t>‹#›</a:t>
            </a:fld>
            <a:endParaRPr lang="ru-MD"/>
          </a:p>
        </p:txBody>
      </p:sp>
    </p:spTree>
    <p:extLst>
      <p:ext uri="{BB962C8B-B14F-4D97-AF65-F5344CB8AC3E}">
        <p14:creationId xmlns:p14="http://schemas.microsoft.com/office/powerpoint/2010/main" val="3905111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8C02EE-BA6D-074A-BF2F-20A6576B2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MD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066FEE5-9CFF-A34B-BA83-905E29EC13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MD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7F68B58-6503-A049-87F5-1A6294D5EB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689D694-FE71-DE4F-9FF9-79615C35D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85DDC-1C67-144A-81A6-42D83C187609}" type="datetimeFigureOut">
              <a:rPr lang="ru-MD" smtClean="0"/>
              <a:t>30.10.2025</a:t>
            </a:fld>
            <a:endParaRPr lang="ru-MD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04E13FF-5009-5E4C-A460-053F0259E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MD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6497570-0DCD-FE4D-9495-AEF46A829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712CA-EFDB-AB44-8F96-B6BA3EBC2039}" type="slidenum">
              <a:rPr lang="ru-MD" smtClean="0"/>
              <a:t>‹#›</a:t>
            </a:fld>
            <a:endParaRPr lang="ru-MD"/>
          </a:p>
        </p:txBody>
      </p:sp>
    </p:spTree>
    <p:extLst>
      <p:ext uri="{BB962C8B-B14F-4D97-AF65-F5344CB8AC3E}">
        <p14:creationId xmlns:p14="http://schemas.microsoft.com/office/powerpoint/2010/main" val="2533576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B408EF-B97A-AA42-BF95-F2F06E191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MD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0B17022-9372-E94B-AF3E-C293C12800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MD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A5B9685-4DA7-B84D-AA22-C586E4FC8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85DDC-1C67-144A-81A6-42D83C187609}" type="datetimeFigureOut">
              <a:rPr lang="ru-MD" smtClean="0"/>
              <a:t>30.10.2025</a:t>
            </a:fld>
            <a:endParaRPr lang="ru-MD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DB37BDC-9AD0-2545-80BE-F26533D7C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MD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886ECA9-DECC-1544-9F44-C8CA18836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712CA-EFDB-AB44-8F96-B6BA3EBC2039}" type="slidenum">
              <a:rPr lang="ru-MD" smtClean="0"/>
              <a:t>‹#›</a:t>
            </a:fld>
            <a:endParaRPr lang="ru-MD"/>
          </a:p>
        </p:txBody>
      </p:sp>
    </p:spTree>
    <p:extLst>
      <p:ext uri="{BB962C8B-B14F-4D97-AF65-F5344CB8AC3E}">
        <p14:creationId xmlns:p14="http://schemas.microsoft.com/office/powerpoint/2010/main" val="1561860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5E1488B-6147-4C4A-B11E-1CF3DCD6E4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MD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D1C08AD-88C5-0F46-8796-70BAF63C5D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MD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498E139-311F-7849-A9E9-C9E786CEA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85DDC-1C67-144A-81A6-42D83C187609}" type="datetimeFigureOut">
              <a:rPr lang="ru-MD" smtClean="0"/>
              <a:t>30.10.2025</a:t>
            </a:fld>
            <a:endParaRPr lang="ru-MD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CCEF3E1-B7BE-2649-95F5-DE2154BF0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MD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1A4EA5F-6C89-D744-8BD1-4B621A6D9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712CA-EFDB-AB44-8F96-B6BA3EBC2039}" type="slidenum">
              <a:rPr lang="ru-MD" smtClean="0"/>
              <a:t>‹#›</a:t>
            </a:fld>
            <a:endParaRPr lang="ru-MD"/>
          </a:p>
        </p:txBody>
      </p:sp>
    </p:spTree>
    <p:extLst>
      <p:ext uri="{BB962C8B-B14F-4D97-AF65-F5344CB8AC3E}">
        <p14:creationId xmlns:p14="http://schemas.microsoft.com/office/powerpoint/2010/main" val="3060098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6052F8-9B87-0748-8EF8-1B37671DD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MD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F84C313-C6A9-AE40-AB8B-5698126E13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MD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F36DF44-C282-404D-80DB-9018F13DF3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D85DDC-1C67-144A-81A6-42D83C187609}" type="datetimeFigureOut">
              <a:rPr lang="ru-MD" smtClean="0"/>
              <a:t>30.10.2025</a:t>
            </a:fld>
            <a:endParaRPr lang="ru-MD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F71EEB6-213C-0C49-A12E-0F30E7DCB4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MD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24CA6C2-EBE0-C547-B623-A9679C762B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B712CA-EFDB-AB44-8F96-B6BA3EBC2039}" type="slidenum">
              <a:rPr lang="ru-MD" smtClean="0"/>
              <a:t>‹#›</a:t>
            </a:fld>
            <a:endParaRPr lang="ru-MD"/>
          </a:p>
        </p:txBody>
      </p:sp>
    </p:spTree>
    <p:extLst>
      <p:ext uri="{BB962C8B-B14F-4D97-AF65-F5344CB8AC3E}">
        <p14:creationId xmlns:p14="http://schemas.microsoft.com/office/powerpoint/2010/main" val="2919582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M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microsoft.com/office/2007/relationships/hdphoto" Target="../media/hdphoto1.wdp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fastapiprojectdatastorm2025-1.onrender.com/" TargetMode="External"/><Relationship Id="rId2" Type="http://schemas.openxmlformats.org/officeDocument/2006/relationships/hyperlink" Target="https://youtu.be/gwsFEfA4WXs" TargetMode="Externa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39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3070F03-4C66-2A44-AE65-EA9FE767A3FE}"/>
              </a:ext>
            </a:extLst>
          </p:cNvPr>
          <p:cNvSpPr txBox="1"/>
          <p:nvPr/>
        </p:nvSpPr>
        <p:spPr>
          <a:xfrm>
            <a:off x="1348418" y="2610433"/>
            <a:ext cx="949516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400" b="1" dirty="0">
                <a:latin typeface="Century" panose="02040604050505020304" pitchFamily="18" charset="0"/>
                <a:cs typeface="Arial" panose="020B0604020202020204" pitchFamily="34" charset="0"/>
              </a:rPr>
              <a:t>Financial Anomaly Detection</a:t>
            </a:r>
            <a:endParaRPr lang="ru-MD" sz="5400" b="1" dirty="0">
              <a:latin typeface="Century" panose="02040604050505020304" pitchFamily="18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518208-A6C1-044B-8D77-95DA4B0BCD6C}"/>
              </a:ext>
            </a:extLst>
          </p:cNvPr>
          <p:cNvSpPr txBox="1"/>
          <p:nvPr/>
        </p:nvSpPr>
        <p:spPr>
          <a:xfrm>
            <a:off x="3848429" y="3533763"/>
            <a:ext cx="449514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dirty="0" err="1">
                <a:latin typeface="Century" panose="02040604050505020304" pitchFamily="18" charset="0"/>
                <a:cs typeface="Arial" panose="020B0604020202020204" pitchFamily="34" charset="0"/>
              </a:rPr>
              <a:t>DataStorm</a:t>
            </a:r>
            <a:r>
              <a:rPr lang="en-US" sz="4400" dirty="0">
                <a:latin typeface="Century" panose="02040604050505020304" pitchFamily="18" charset="0"/>
                <a:cs typeface="Arial" panose="020B0604020202020204" pitchFamily="34" charset="0"/>
              </a:rPr>
              <a:t> 2025</a:t>
            </a:r>
            <a:endParaRPr lang="ru-MD" sz="4400" dirty="0">
              <a:latin typeface="Century" panose="020406040505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5179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Box 55">
            <a:extLst>
              <a:ext uri="{FF2B5EF4-FFF2-40B4-BE49-F238E27FC236}">
                <a16:creationId xmlns:a16="http://schemas.microsoft.com/office/drawing/2014/main" id="{53AA8605-419D-834E-9615-45F8A5BDE899}"/>
              </a:ext>
            </a:extLst>
          </p:cNvPr>
          <p:cNvSpPr txBox="1"/>
          <p:nvPr/>
        </p:nvSpPr>
        <p:spPr>
          <a:xfrm>
            <a:off x="501762" y="521651"/>
            <a:ext cx="663194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latin typeface="Century" panose="02040604050505020304" pitchFamily="18" charset="0"/>
                <a:cs typeface="Courier New" panose="02070309020205020404" pitchFamily="49" charset="0"/>
              </a:rPr>
              <a:t>Business Understanding</a:t>
            </a:r>
            <a:endParaRPr lang="ru-MD" sz="4400" dirty="0">
              <a:latin typeface="Century" panose="02040604050505020304" pitchFamily="18" charset="0"/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C95632-7E37-FE4D-8FCF-3DC11E7A2F1C}"/>
              </a:ext>
            </a:extLst>
          </p:cNvPr>
          <p:cNvSpPr txBox="1"/>
          <p:nvPr/>
        </p:nvSpPr>
        <p:spPr>
          <a:xfrm>
            <a:off x="2548807" y="3024759"/>
            <a:ext cx="21581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MD"/>
            </a:defPPr>
            <a:lvl1pPr>
              <a:defRPr sz="4400">
                <a:latin typeface="Century" panose="02040604050505020304" pitchFamily="18" charset="0"/>
                <a:cs typeface="Courier New" panose="02070309020205020404" pitchFamily="49" charset="0"/>
              </a:defRPr>
            </a:lvl1pPr>
          </a:lstStyle>
          <a:p>
            <a:pPr algn="ctr"/>
            <a:r>
              <a:rPr lang="en-US" sz="2800" dirty="0"/>
              <a:t>Transaction</a:t>
            </a:r>
            <a:endParaRPr lang="ru-MD" sz="28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6AE3F40-FC95-E446-809B-5F8C416A27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497148" y="1441599"/>
            <a:ext cx="1294113" cy="1294113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29709C9-6C43-4046-8DF6-9C6B3E9F85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6618" y="1802324"/>
            <a:ext cx="1282534" cy="128253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E27ECAE-7251-F342-BAD1-16C3D3E9ED71}"/>
              </a:ext>
            </a:extLst>
          </p:cNvPr>
          <p:cNvSpPr txBox="1"/>
          <p:nvPr/>
        </p:nvSpPr>
        <p:spPr>
          <a:xfrm>
            <a:off x="843102" y="5326836"/>
            <a:ext cx="18101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MD"/>
            </a:defPPr>
            <a:lvl1pPr>
              <a:defRPr sz="4400">
                <a:latin typeface="Century" panose="02040604050505020304" pitchFamily="18" charset="0"/>
                <a:cs typeface="Courier New" panose="02070309020205020404" pitchFamily="49" charset="0"/>
              </a:defRPr>
            </a:lvl1pPr>
          </a:lstStyle>
          <a:p>
            <a:r>
              <a:rPr lang="en-US" sz="3600" dirty="0"/>
              <a:t>Normal</a:t>
            </a:r>
            <a:endParaRPr lang="ru-MD" sz="36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CB5B731-5F59-8A45-823E-98F9E84DBFF2}"/>
              </a:ext>
            </a:extLst>
          </p:cNvPr>
          <p:cNvSpPr txBox="1"/>
          <p:nvPr/>
        </p:nvSpPr>
        <p:spPr>
          <a:xfrm>
            <a:off x="4356085" y="5320116"/>
            <a:ext cx="20922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MD"/>
            </a:defPPr>
            <a:lvl1pPr>
              <a:defRPr sz="4400">
                <a:latin typeface="Century" panose="02040604050505020304" pitchFamily="18" charset="0"/>
                <a:cs typeface="Courier New" panose="02070309020205020404" pitchFamily="49" charset="0"/>
              </a:defRPr>
            </a:lvl1pPr>
          </a:lstStyle>
          <a:p>
            <a:r>
              <a:rPr lang="en-US" sz="3600" dirty="0"/>
              <a:t>Anomaly</a:t>
            </a:r>
            <a:endParaRPr lang="ru-MD" sz="3600" dirty="0"/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E11EA3A5-11A9-3946-B69B-74B6CB3674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102" y="3974760"/>
            <a:ext cx="1810111" cy="1810111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A2A00941-1110-8F4A-B86D-10BA5963E8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7148" y="3968041"/>
            <a:ext cx="1810111" cy="1810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880857"/>
      </p:ext>
    </p:extLst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Box 55">
            <a:extLst>
              <a:ext uri="{FF2B5EF4-FFF2-40B4-BE49-F238E27FC236}">
                <a16:creationId xmlns:a16="http://schemas.microsoft.com/office/drawing/2014/main" id="{53AA8605-419D-834E-9615-45F8A5BDE899}"/>
              </a:ext>
            </a:extLst>
          </p:cNvPr>
          <p:cNvSpPr txBox="1"/>
          <p:nvPr/>
        </p:nvSpPr>
        <p:spPr>
          <a:xfrm>
            <a:off x="501762" y="521651"/>
            <a:ext cx="663194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latin typeface="Century" panose="02040604050505020304" pitchFamily="18" charset="0"/>
                <a:cs typeface="Courier New" panose="02070309020205020404" pitchFamily="49" charset="0"/>
              </a:rPr>
              <a:t>Business Understanding</a:t>
            </a:r>
            <a:endParaRPr lang="ru-MD" sz="4400" dirty="0">
              <a:latin typeface="Century" panose="02040604050505020304" pitchFamily="18" charset="0"/>
              <a:cs typeface="Courier New" panose="02070309020205020404" pitchFamily="49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ACFEE39-81DE-BE48-B2BA-478D5DEDFB51}"/>
              </a:ext>
            </a:extLst>
          </p:cNvPr>
          <p:cNvSpPr txBox="1"/>
          <p:nvPr/>
        </p:nvSpPr>
        <p:spPr>
          <a:xfrm>
            <a:off x="843102" y="5326836"/>
            <a:ext cx="18101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MD"/>
            </a:defPPr>
            <a:lvl1pPr>
              <a:defRPr sz="4400">
                <a:latin typeface="Century" panose="02040604050505020304" pitchFamily="18" charset="0"/>
                <a:cs typeface="Courier New" panose="02070309020205020404" pitchFamily="49" charset="0"/>
              </a:defRPr>
            </a:lvl1pPr>
          </a:lstStyle>
          <a:p>
            <a:r>
              <a:rPr lang="en-US" sz="3600" dirty="0"/>
              <a:t>Normal</a:t>
            </a:r>
            <a:endParaRPr lang="ru-MD" sz="36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CC37EE0-FC07-7F4C-B4C8-FBF4D7EE7536}"/>
              </a:ext>
            </a:extLst>
          </p:cNvPr>
          <p:cNvSpPr txBox="1"/>
          <p:nvPr/>
        </p:nvSpPr>
        <p:spPr>
          <a:xfrm>
            <a:off x="4356085" y="5320116"/>
            <a:ext cx="20922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MD"/>
            </a:defPPr>
            <a:lvl1pPr>
              <a:defRPr sz="4400">
                <a:latin typeface="Century" panose="02040604050505020304" pitchFamily="18" charset="0"/>
                <a:cs typeface="Courier New" panose="02070309020205020404" pitchFamily="49" charset="0"/>
              </a:defRPr>
            </a:lvl1pPr>
          </a:lstStyle>
          <a:p>
            <a:r>
              <a:rPr lang="en-US" sz="3600" dirty="0"/>
              <a:t>Anomaly</a:t>
            </a:r>
            <a:endParaRPr lang="ru-MD" sz="36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6AE3F40-FC95-E446-809B-5F8C416A27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497148" y="1441599"/>
            <a:ext cx="1294113" cy="1294113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29709C9-6C43-4046-8DF6-9C6B3E9F85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499" y="3361545"/>
            <a:ext cx="1282534" cy="128253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5556E1B-0154-114C-90EC-1DDDF44E78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9336" y="1013329"/>
            <a:ext cx="1044951" cy="1044951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1871E02-37C9-B74D-B9B4-718A1454F9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99336" y="2889404"/>
            <a:ext cx="1044950" cy="104495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522A0C5-C962-3449-8229-C579801A7B9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99337" y="4972295"/>
            <a:ext cx="1044950" cy="104495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D97F38D-CB75-CE4D-B5F9-0A7460C9ACA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3102" y="3974760"/>
            <a:ext cx="1810111" cy="1810111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DAC752E3-880B-7B40-B987-DA85FDB566E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97148" y="3968041"/>
            <a:ext cx="1810111" cy="1810111"/>
          </a:xfrm>
          <a:prstGeom prst="rect">
            <a:avLst/>
          </a:prstGeom>
        </p:spPr>
      </p:pic>
      <p:sp>
        <p:nvSpPr>
          <p:cNvPr id="8" name="Стрелка вверх 7">
            <a:extLst>
              <a:ext uri="{FF2B5EF4-FFF2-40B4-BE49-F238E27FC236}">
                <a16:creationId xmlns:a16="http://schemas.microsoft.com/office/drawing/2014/main" id="{2B3135AB-EDA5-7A4C-AFA2-959C521A6AA9}"/>
              </a:ext>
            </a:extLst>
          </p:cNvPr>
          <p:cNvSpPr/>
          <p:nvPr/>
        </p:nvSpPr>
        <p:spPr>
          <a:xfrm>
            <a:off x="10288142" y="708480"/>
            <a:ext cx="450565" cy="609697"/>
          </a:xfrm>
          <a:prstGeom prst="upArrow">
            <a:avLst/>
          </a:prstGeom>
          <a:solidFill>
            <a:srgbClr val="92D05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MD"/>
          </a:p>
        </p:txBody>
      </p:sp>
      <p:sp>
        <p:nvSpPr>
          <p:cNvPr id="16" name="Стрелка вверх 15">
            <a:extLst>
              <a:ext uri="{FF2B5EF4-FFF2-40B4-BE49-F238E27FC236}">
                <a16:creationId xmlns:a16="http://schemas.microsoft.com/office/drawing/2014/main" id="{914CC259-9F0F-EC45-8F04-F547B178238D}"/>
              </a:ext>
            </a:extLst>
          </p:cNvPr>
          <p:cNvSpPr/>
          <p:nvPr/>
        </p:nvSpPr>
        <p:spPr>
          <a:xfrm>
            <a:off x="10288141" y="2703212"/>
            <a:ext cx="450565" cy="609697"/>
          </a:xfrm>
          <a:prstGeom prst="upArrow">
            <a:avLst/>
          </a:prstGeom>
          <a:solidFill>
            <a:srgbClr val="92D05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MD"/>
          </a:p>
        </p:txBody>
      </p:sp>
      <p:sp>
        <p:nvSpPr>
          <p:cNvPr id="17" name="Стрелка вверх 16">
            <a:extLst>
              <a:ext uri="{FF2B5EF4-FFF2-40B4-BE49-F238E27FC236}">
                <a16:creationId xmlns:a16="http://schemas.microsoft.com/office/drawing/2014/main" id="{E97465E2-EB3A-764A-A3E4-07385B417ECD}"/>
              </a:ext>
            </a:extLst>
          </p:cNvPr>
          <p:cNvSpPr/>
          <p:nvPr/>
        </p:nvSpPr>
        <p:spPr>
          <a:xfrm rot="10800000">
            <a:off x="10288141" y="4741859"/>
            <a:ext cx="450565" cy="609697"/>
          </a:xfrm>
          <a:prstGeom prst="upArrow">
            <a:avLst/>
          </a:prstGeom>
          <a:solidFill>
            <a:srgbClr val="FF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MD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4ED85F-BCBF-5D4A-B7DA-5C975CBC95E5}"/>
              </a:ext>
            </a:extLst>
          </p:cNvPr>
          <p:cNvSpPr txBox="1"/>
          <p:nvPr/>
        </p:nvSpPr>
        <p:spPr>
          <a:xfrm>
            <a:off x="7824491" y="1210766"/>
            <a:ext cx="17748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entury" panose="02040604050505020304" pitchFamily="18" charset="0"/>
              </a:rPr>
              <a:t>Reputation</a:t>
            </a:r>
            <a:endParaRPr lang="ru-MD" sz="2400" dirty="0">
              <a:latin typeface="Century" panose="020406040505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89C03B7-2139-F84D-BCF5-0FC9BAFE9060}"/>
              </a:ext>
            </a:extLst>
          </p:cNvPr>
          <p:cNvSpPr txBox="1"/>
          <p:nvPr/>
        </p:nvSpPr>
        <p:spPr>
          <a:xfrm>
            <a:off x="8369670" y="3165745"/>
            <a:ext cx="11352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latin typeface="Century" panose="02040604050505020304" pitchFamily="18" charset="0"/>
              </a:rPr>
              <a:t>Money</a:t>
            </a:r>
            <a:endParaRPr lang="ru-MD" sz="2400" dirty="0">
              <a:latin typeface="Century" panose="020406040505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AF8DFBF-BC41-A243-B590-050C188A60C4}"/>
              </a:ext>
            </a:extLst>
          </p:cNvPr>
          <p:cNvSpPr txBox="1"/>
          <p:nvPr/>
        </p:nvSpPr>
        <p:spPr>
          <a:xfrm>
            <a:off x="8406538" y="5120724"/>
            <a:ext cx="10615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latin typeface="Century" panose="02040604050505020304" pitchFamily="18" charset="0"/>
              </a:rPr>
              <a:t>Fraud</a:t>
            </a:r>
            <a:endParaRPr lang="ru-MD" sz="2400" dirty="0"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29772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Box 55">
            <a:extLst>
              <a:ext uri="{FF2B5EF4-FFF2-40B4-BE49-F238E27FC236}">
                <a16:creationId xmlns:a16="http://schemas.microsoft.com/office/drawing/2014/main" id="{53AA8605-419D-834E-9615-45F8A5BDE899}"/>
              </a:ext>
            </a:extLst>
          </p:cNvPr>
          <p:cNvSpPr txBox="1"/>
          <p:nvPr/>
        </p:nvSpPr>
        <p:spPr>
          <a:xfrm>
            <a:off x="501762" y="521651"/>
            <a:ext cx="663194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latin typeface="Century" panose="02040604050505020304" pitchFamily="18" charset="0"/>
                <a:cs typeface="Courier New" panose="02070309020205020404" pitchFamily="49" charset="0"/>
              </a:rPr>
              <a:t>Business Understanding</a:t>
            </a:r>
            <a:endParaRPr lang="ru-MD" sz="4400" dirty="0">
              <a:latin typeface="Century" panose="02040604050505020304" pitchFamily="18" charset="0"/>
              <a:cs typeface="Courier New" panose="020703090202050204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653905-703D-4D44-AC9F-EE0323A970AA}"/>
              </a:ext>
            </a:extLst>
          </p:cNvPr>
          <p:cNvSpPr txBox="1"/>
          <p:nvPr/>
        </p:nvSpPr>
        <p:spPr>
          <a:xfrm>
            <a:off x="584889" y="2258063"/>
            <a:ext cx="11504191" cy="27901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Century" panose="02040604050505020304" pitchFamily="18" charset="0"/>
              </a:rPr>
              <a:t>Precision</a:t>
            </a:r>
            <a:r>
              <a:rPr lang="en-US" sz="2400" dirty="0">
                <a:latin typeface="Century" panose="02040604050505020304" pitchFamily="18" charset="0"/>
              </a:rPr>
              <a:t> - Of all predicted anomalies, how many were actually anomalies.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Century" panose="02040604050505020304" pitchFamily="18" charset="0"/>
              </a:rPr>
              <a:t>Recall</a:t>
            </a:r>
            <a:r>
              <a:rPr lang="en-US" sz="2400" dirty="0">
                <a:latin typeface="Century" panose="02040604050505020304" pitchFamily="18" charset="0"/>
              </a:rPr>
              <a:t> - Of all real anomalies, how many the model caught.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Century" panose="02040604050505020304" pitchFamily="18" charset="0"/>
              </a:rPr>
              <a:t>F1</a:t>
            </a:r>
            <a:r>
              <a:rPr lang="en-US" sz="2400" dirty="0">
                <a:latin typeface="Century" panose="02040604050505020304" pitchFamily="18" charset="0"/>
              </a:rPr>
              <a:t> - Balance between precision and recall (their harmonic mean).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Century" panose="02040604050505020304" pitchFamily="18" charset="0"/>
              </a:rPr>
              <a:t>PR-AUC</a:t>
            </a:r>
            <a:r>
              <a:rPr lang="en-US" sz="2400" dirty="0">
                <a:latin typeface="Century" panose="02040604050505020304" pitchFamily="18" charset="0"/>
              </a:rPr>
              <a:t> - How well the model balances precision and recall, especially useful for imbalanced data.</a:t>
            </a:r>
          </a:p>
        </p:txBody>
      </p:sp>
    </p:spTree>
    <p:extLst>
      <p:ext uri="{BB962C8B-B14F-4D97-AF65-F5344CB8AC3E}">
        <p14:creationId xmlns:p14="http://schemas.microsoft.com/office/powerpoint/2010/main" val="1176010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Box 55">
            <a:extLst>
              <a:ext uri="{FF2B5EF4-FFF2-40B4-BE49-F238E27FC236}">
                <a16:creationId xmlns:a16="http://schemas.microsoft.com/office/drawing/2014/main" id="{53AA8605-419D-834E-9615-45F8A5BDE899}"/>
              </a:ext>
            </a:extLst>
          </p:cNvPr>
          <p:cNvSpPr txBox="1"/>
          <p:nvPr/>
        </p:nvSpPr>
        <p:spPr>
          <a:xfrm>
            <a:off x="501762" y="521651"/>
            <a:ext cx="557877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latin typeface="Century" panose="02040604050505020304" pitchFamily="18" charset="0"/>
                <a:cs typeface="Courier New" panose="02070309020205020404" pitchFamily="49" charset="0"/>
              </a:rPr>
              <a:t>Data Understanding</a:t>
            </a:r>
            <a:endParaRPr lang="ru-MD" sz="4400" dirty="0">
              <a:latin typeface="Century" panose="02040604050505020304" pitchFamily="18" charset="0"/>
              <a:cs typeface="Courier New" panose="02070309020205020404" pitchFamily="49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E9122A3-7189-0943-BDC9-716B3B9D5C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431" y="1766512"/>
            <a:ext cx="1111469" cy="1111469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0F187B3-CBD3-F745-836B-4AD6140723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309" y="1727271"/>
            <a:ext cx="1111470" cy="111147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B9EFA6C-763D-5D41-9089-4AD182AF92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551" y="1607292"/>
            <a:ext cx="1358228" cy="135822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5FB1D33-514B-4940-9112-64EFF82A16F5}"/>
              </a:ext>
            </a:extLst>
          </p:cNvPr>
          <p:cNvSpPr txBox="1"/>
          <p:nvPr/>
        </p:nvSpPr>
        <p:spPr>
          <a:xfrm>
            <a:off x="2921330" y="2456516"/>
            <a:ext cx="25955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MD"/>
            </a:defPPr>
            <a:lvl1pPr>
              <a:defRPr sz="3600">
                <a:latin typeface="Century" panose="02040604050505020304" pitchFamily="18" charset="0"/>
                <a:cs typeface="Courier New" panose="02070309020205020404" pitchFamily="49" charset="0"/>
              </a:defRPr>
            </a:lvl1pPr>
          </a:lstStyle>
          <a:p>
            <a:r>
              <a:rPr lang="en-US" b="1" dirty="0"/>
              <a:t>46 columns</a:t>
            </a:r>
            <a:endParaRPr lang="ru-MD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10AEBDC-FC7B-7E4F-823B-845F11F5CEEC}"/>
              </a:ext>
            </a:extLst>
          </p:cNvPr>
          <p:cNvSpPr txBox="1"/>
          <p:nvPr/>
        </p:nvSpPr>
        <p:spPr>
          <a:xfrm>
            <a:off x="2921330" y="1867426"/>
            <a:ext cx="12627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MD"/>
            </a:defPPr>
            <a:lvl1pPr>
              <a:defRPr sz="3600">
                <a:latin typeface="Century" panose="02040604050505020304" pitchFamily="18" charset="0"/>
                <a:cs typeface="Courier New" panose="02070309020205020404" pitchFamily="49" charset="0"/>
              </a:defRPr>
            </a:lvl1pPr>
          </a:lstStyle>
          <a:p>
            <a:r>
              <a:rPr lang="en-US" b="1" dirty="0"/>
              <a:t>Total</a:t>
            </a:r>
            <a:endParaRPr lang="ru-MD" b="1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C23CA55-F781-FB48-82D1-A15BECD79B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110" y="1291092"/>
            <a:ext cx="1983828" cy="1983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9201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Box 55">
            <a:extLst>
              <a:ext uri="{FF2B5EF4-FFF2-40B4-BE49-F238E27FC236}">
                <a16:creationId xmlns:a16="http://schemas.microsoft.com/office/drawing/2014/main" id="{53AA8605-419D-834E-9615-45F8A5BDE899}"/>
              </a:ext>
            </a:extLst>
          </p:cNvPr>
          <p:cNvSpPr txBox="1"/>
          <p:nvPr/>
        </p:nvSpPr>
        <p:spPr>
          <a:xfrm>
            <a:off x="501762" y="521651"/>
            <a:ext cx="557877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latin typeface="Century" panose="02040604050505020304" pitchFamily="18" charset="0"/>
                <a:cs typeface="Courier New" panose="02070309020205020404" pitchFamily="49" charset="0"/>
              </a:rPr>
              <a:t>Data Understanding</a:t>
            </a:r>
            <a:endParaRPr lang="ru-MD" sz="4400" dirty="0">
              <a:latin typeface="Century" panose="02040604050505020304" pitchFamily="18" charset="0"/>
              <a:cs typeface="Courier New" panose="02070309020205020404" pitchFamily="49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C23CA55-F781-FB48-82D1-A15BECD79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110" y="1291092"/>
            <a:ext cx="1983828" cy="1983828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E9122A3-7189-0943-BDC9-716B3B9D5C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0817" y="3331112"/>
            <a:ext cx="1111469" cy="1111469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0F187B3-CBD3-F745-836B-4AD6140723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0817" y="4703013"/>
            <a:ext cx="1111470" cy="111147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B9EFA6C-763D-5D41-9089-4AD182AF92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3885" y="1383466"/>
            <a:ext cx="1549858" cy="154985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5FB1D33-514B-4940-9112-64EFF82A16F5}"/>
              </a:ext>
            </a:extLst>
          </p:cNvPr>
          <p:cNvSpPr txBox="1"/>
          <p:nvPr/>
        </p:nvSpPr>
        <p:spPr>
          <a:xfrm>
            <a:off x="2921330" y="2456516"/>
            <a:ext cx="25955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MD"/>
            </a:defPPr>
            <a:lvl1pPr>
              <a:defRPr sz="3600">
                <a:latin typeface="Century" panose="02040604050505020304" pitchFamily="18" charset="0"/>
                <a:cs typeface="Courier New" panose="02070309020205020404" pitchFamily="49" charset="0"/>
              </a:defRPr>
            </a:lvl1pPr>
          </a:lstStyle>
          <a:p>
            <a:r>
              <a:rPr lang="en-US" b="1" dirty="0"/>
              <a:t>46 columns</a:t>
            </a:r>
            <a:endParaRPr lang="ru-MD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2BD24D-F79F-054D-A273-ADE2A8D9084E}"/>
              </a:ext>
            </a:extLst>
          </p:cNvPr>
          <p:cNvSpPr txBox="1"/>
          <p:nvPr/>
        </p:nvSpPr>
        <p:spPr>
          <a:xfrm>
            <a:off x="2921330" y="3886846"/>
            <a:ext cx="23278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MD"/>
            </a:defPPr>
            <a:lvl1pPr>
              <a:defRPr sz="3600">
                <a:latin typeface="Century" panose="02040604050505020304" pitchFamily="18" charset="0"/>
                <a:cs typeface="Courier New" panose="02070309020205020404" pitchFamily="49" charset="0"/>
              </a:defRPr>
            </a:lvl1pPr>
          </a:lstStyle>
          <a:p>
            <a:r>
              <a:rPr lang="en-US" sz="3200" dirty="0"/>
              <a:t>17 columns</a:t>
            </a:r>
            <a:endParaRPr lang="ru-MD" sz="3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557AF2-A253-E743-8EDA-B1E8E29704CB}"/>
              </a:ext>
            </a:extLst>
          </p:cNvPr>
          <p:cNvSpPr txBox="1"/>
          <p:nvPr/>
        </p:nvSpPr>
        <p:spPr>
          <a:xfrm>
            <a:off x="2921330" y="5277226"/>
            <a:ext cx="23278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MD"/>
            </a:defPPr>
            <a:lvl1pPr>
              <a:defRPr sz="3600">
                <a:latin typeface="Century" panose="02040604050505020304" pitchFamily="18" charset="0"/>
                <a:cs typeface="Courier New" panose="02070309020205020404" pitchFamily="49" charset="0"/>
              </a:defRPr>
            </a:lvl1pPr>
          </a:lstStyle>
          <a:p>
            <a:r>
              <a:rPr lang="en-US" sz="3200" dirty="0"/>
              <a:t>29 columns</a:t>
            </a:r>
            <a:endParaRPr lang="ru-MD" sz="3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10AEBDC-FC7B-7E4F-823B-845F11F5CEEC}"/>
              </a:ext>
            </a:extLst>
          </p:cNvPr>
          <p:cNvSpPr txBox="1"/>
          <p:nvPr/>
        </p:nvSpPr>
        <p:spPr>
          <a:xfrm>
            <a:off x="2921330" y="1867426"/>
            <a:ext cx="12627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MD"/>
            </a:defPPr>
            <a:lvl1pPr>
              <a:defRPr sz="3600">
                <a:latin typeface="Century" panose="02040604050505020304" pitchFamily="18" charset="0"/>
                <a:cs typeface="Courier New" panose="02070309020205020404" pitchFamily="49" charset="0"/>
              </a:defRPr>
            </a:lvl1pPr>
          </a:lstStyle>
          <a:p>
            <a:r>
              <a:rPr lang="en-US" b="1" dirty="0"/>
              <a:t>Total</a:t>
            </a:r>
            <a:endParaRPr lang="ru-MD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FECAA9C-64FA-E24A-8B3C-3B4982206A47}"/>
              </a:ext>
            </a:extLst>
          </p:cNvPr>
          <p:cNvSpPr txBox="1"/>
          <p:nvPr/>
        </p:nvSpPr>
        <p:spPr>
          <a:xfrm>
            <a:off x="2921330" y="3431746"/>
            <a:ext cx="14013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MD"/>
            </a:defPPr>
            <a:lvl1pPr>
              <a:defRPr sz="3600">
                <a:latin typeface="Century" panose="02040604050505020304" pitchFamily="18" charset="0"/>
                <a:cs typeface="Courier New" panose="02070309020205020404" pitchFamily="49" charset="0"/>
              </a:defRPr>
            </a:lvl1pPr>
          </a:lstStyle>
          <a:p>
            <a:r>
              <a:rPr lang="en-US" sz="3200" dirty="0"/>
              <a:t>Object</a:t>
            </a:r>
            <a:endParaRPr lang="ru-MD" sz="3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D68C154-037C-1942-990D-E9276203EEDB}"/>
              </a:ext>
            </a:extLst>
          </p:cNvPr>
          <p:cNvSpPr txBox="1"/>
          <p:nvPr/>
        </p:nvSpPr>
        <p:spPr>
          <a:xfrm>
            <a:off x="2921330" y="4806525"/>
            <a:ext cx="18357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MD"/>
            </a:defPPr>
            <a:lvl1pPr>
              <a:defRPr sz="3600">
                <a:latin typeface="Century" panose="02040604050505020304" pitchFamily="18" charset="0"/>
                <a:cs typeface="Courier New" panose="02070309020205020404" pitchFamily="49" charset="0"/>
              </a:defRPr>
            </a:lvl1pPr>
          </a:lstStyle>
          <a:p>
            <a:r>
              <a:rPr lang="en-US" sz="3200" dirty="0"/>
              <a:t>Numeric</a:t>
            </a:r>
            <a:endParaRPr lang="ru-MD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7FBBEC-85A8-3140-9B34-08BED2300186}"/>
              </a:ext>
            </a:extLst>
          </p:cNvPr>
          <p:cNvSpPr txBox="1"/>
          <p:nvPr/>
        </p:nvSpPr>
        <p:spPr>
          <a:xfrm>
            <a:off x="6096000" y="3131057"/>
            <a:ext cx="32528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MD"/>
            </a:defPPr>
            <a:lvl1pPr>
              <a:defRPr sz="3200">
                <a:latin typeface="Century" panose="02040604050505020304" pitchFamily="18" charset="0"/>
                <a:cs typeface="Courier New" panose="02070309020205020404" pitchFamily="49" charset="0"/>
              </a:defRPr>
            </a:lvl1pPr>
          </a:lstStyle>
          <a:p>
            <a:pPr algn="ctr"/>
            <a:r>
              <a:rPr lang="en-US" sz="2000" i="1" dirty="0" err="1"/>
              <a:t>is_anomaly_gr_truth</a:t>
            </a:r>
            <a:endParaRPr lang="ru-MD" sz="2000" i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7E2C91F-5A63-FB4B-B39A-A8EAF5136D2C}"/>
              </a:ext>
            </a:extLst>
          </p:cNvPr>
          <p:cNvSpPr txBox="1"/>
          <p:nvPr/>
        </p:nvSpPr>
        <p:spPr>
          <a:xfrm>
            <a:off x="9660097" y="3165776"/>
            <a:ext cx="18421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MD"/>
            </a:defPPr>
            <a:lvl1pPr>
              <a:defRPr sz="3200">
                <a:latin typeface="Century" panose="02040604050505020304" pitchFamily="18" charset="0"/>
                <a:cs typeface="Courier New" panose="02070309020205020404" pitchFamily="49" charset="0"/>
              </a:defRPr>
            </a:lvl1pPr>
          </a:lstStyle>
          <a:p>
            <a:r>
              <a:rPr lang="en-US" sz="2000" i="1" dirty="0" err="1"/>
              <a:t>anomaly_type</a:t>
            </a:r>
            <a:endParaRPr lang="ru-MD" sz="2000" i="1" dirty="0"/>
          </a:p>
        </p:txBody>
      </p:sp>
      <p:graphicFrame>
        <p:nvGraphicFramePr>
          <p:cNvPr id="16" name="Таблица 17">
            <a:extLst>
              <a:ext uri="{FF2B5EF4-FFF2-40B4-BE49-F238E27FC236}">
                <a16:creationId xmlns:a16="http://schemas.microsoft.com/office/drawing/2014/main" id="{9E2B84FA-1EFB-5F46-9211-88706D470C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9510486"/>
              </p:ext>
            </p:extLst>
          </p:nvPr>
        </p:nvGraphicFramePr>
        <p:xfrm>
          <a:off x="6837100" y="3626139"/>
          <a:ext cx="4665168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2584">
                  <a:extLst>
                    <a:ext uri="{9D8B030D-6E8A-4147-A177-3AD203B41FA5}">
                      <a16:colId xmlns:a16="http://schemas.microsoft.com/office/drawing/2014/main" val="2006182548"/>
                    </a:ext>
                  </a:extLst>
                </a:gridCol>
                <a:gridCol w="2332584">
                  <a:extLst>
                    <a:ext uri="{9D8B030D-6E8A-4147-A177-3AD203B41FA5}">
                      <a16:colId xmlns:a16="http://schemas.microsoft.com/office/drawing/2014/main" val="7303469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b="0" kern="1200" dirty="0">
                          <a:solidFill>
                            <a:schemeClr val="tx1"/>
                          </a:solidFill>
                          <a:latin typeface="Century" panose="02040604050505020304" pitchFamily="18" charset="0"/>
                          <a:ea typeface="+mn-ea"/>
                          <a:cs typeface="Courier New" panose="02070309020205020404" pitchFamily="49" charset="0"/>
                        </a:rPr>
                        <a:t>0</a:t>
                      </a:r>
                      <a:endParaRPr lang="ru-MD" sz="3200" b="0" kern="1200" dirty="0">
                        <a:solidFill>
                          <a:schemeClr val="tx1"/>
                        </a:solidFill>
                        <a:latin typeface="Century" panose="02040604050505020304" pitchFamily="18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kern="1200" dirty="0">
                          <a:solidFill>
                            <a:schemeClr val="tx1"/>
                          </a:solidFill>
                          <a:latin typeface="Century" panose="02040604050505020304" pitchFamily="18" charset="0"/>
                          <a:ea typeface="+mn-ea"/>
                          <a:cs typeface="Courier New" panose="02070309020205020404" pitchFamily="49" charset="0"/>
                        </a:rPr>
                        <a:t>NORMAL</a:t>
                      </a:r>
                      <a:endParaRPr lang="ru-MD" sz="2400" b="0" kern="1200" dirty="0">
                        <a:solidFill>
                          <a:schemeClr val="tx1"/>
                        </a:solidFill>
                        <a:latin typeface="Century" panose="02040604050505020304" pitchFamily="18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36360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kern="1200" dirty="0">
                          <a:solidFill>
                            <a:schemeClr val="tx1"/>
                          </a:solidFill>
                          <a:latin typeface="Century" panose="02040604050505020304" pitchFamily="18" charset="0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  <a:endParaRPr lang="ru-MD" sz="3200" kern="1200" dirty="0">
                        <a:solidFill>
                          <a:schemeClr val="tx1"/>
                        </a:solidFill>
                        <a:latin typeface="Century" panose="02040604050505020304" pitchFamily="18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kern="1200" dirty="0">
                          <a:solidFill>
                            <a:schemeClr val="tx1"/>
                          </a:solidFill>
                          <a:latin typeface="Century" panose="02040604050505020304" pitchFamily="18" charset="0"/>
                          <a:ea typeface="+mn-ea"/>
                          <a:cs typeface="Courier New" panose="02070309020205020404" pitchFamily="49" charset="0"/>
                        </a:rPr>
                        <a:t>RARE CCY</a:t>
                      </a:r>
                      <a:endParaRPr lang="ru-MD" sz="2800" kern="1200" dirty="0">
                        <a:solidFill>
                          <a:schemeClr val="tx1"/>
                        </a:solidFill>
                        <a:latin typeface="Century" panose="02040604050505020304" pitchFamily="18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4930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kern="1200" dirty="0">
                          <a:solidFill>
                            <a:schemeClr val="tx1"/>
                          </a:solidFill>
                          <a:latin typeface="Century" panose="02040604050505020304" pitchFamily="18" charset="0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  <a:endParaRPr lang="ru-MD" sz="3200" kern="1200" dirty="0">
                        <a:solidFill>
                          <a:schemeClr val="tx1"/>
                        </a:solidFill>
                        <a:latin typeface="Century" panose="02040604050505020304" pitchFamily="18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kern="1200" dirty="0">
                          <a:solidFill>
                            <a:schemeClr val="tx1"/>
                          </a:solidFill>
                          <a:latin typeface="Century" panose="02040604050505020304" pitchFamily="18" charset="0"/>
                          <a:ea typeface="+mn-ea"/>
                          <a:cs typeface="Courier New" panose="02070309020205020404" pitchFamily="49" charset="0"/>
                        </a:rPr>
                        <a:t>BURST</a:t>
                      </a:r>
                      <a:endParaRPr lang="ru-MD" sz="3200" kern="1200" dirty="0">
                        <a:solidFill>
                          <a:schemeClr val="tx1"/>
                        </a:solidFill>
                        <a:latin typeface="Century" panose="02040604050505020304" pitchFamily="18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6219372"/>
                  </a:ext>
                </a:extLst>
              </a:tr>
            </a:tbl>
          </a:graphicData>
        </a:graphic>
      </p:graphicFrame>
      <p:pic>
        <p:nvPicPr>
          <p:cNvPr id="19" name="Picture 2" descr="Curved Arrow Black PNG Transparent Background, Free Download #12453 -  FreeIconsPNG">
            <a:extLst>
              <a:ext uri="{FF2B5EF4-FFF2-40B4-BE49-F238E27FC236}">
                <a16:creationId xmlns:a16="http://schemas.microsoft.com/office/drawing/2014/main" id="{C5B0DAE7-FBD8-6046-80FE-98C95CC3BF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058"/>
          <a:stretch/>
        </p:blipFill>
        <p:spPr bwMode="auto">
          <a:xfrm rot="18279092">
            <a:off x="7021268" y="5346531"/>
            <a:ext cx="1100607" cy="513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2DE7D41-83D4-F04B-9B73-25A087235029}"/>
              </a:ext>
            </a:extLst>
          </p:cNvPr>
          <p:cNvSpPr txBox="1"/>
          <p:nvPr/>
        </p:nvSpPr>
        <p:spPr>
          <a:xfrm rot="20950462">
            <a:off x="6282217" y="5381152"/>
            <a:ext cx="11128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MD"/>
            </a:defPPr>
            <a:lvl1pPr>
              <a:defRPr sz="3200">
                <a:latin typeface="Century" panose="02040604050505020304" pitchFamily="18" charset="0"/>
                <a:cs typeface="Courier New" panose="02070309020205020404" pitchFamily="49" charset="0"/>
              </a:defRPr>
            </a:lvl1pPr>
          </a:lstStyle>
          <a:p>
            <a:r>
              <a:rPr lang="en-US" sz="2400" b="1" dirty="0"/>
              <a:t>binary</a:t>
            </a:r>
            <a:endParaRPr lang="ru-MD" sz="24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BC1F6F8-CBA2-454C-BA71-348FDCC3C8A8}"/>
              </a:ext>
            </a:extLst>
          </p:cNvPr>
          <p:cNvSpPr txBox="1"/>
          <p:nvPr/>
        </p:nvSpPr>
        <p:spPr>
          <a:xfrm rot="798498">
            <a:off x="10801547" y="5412743"/>
            <a:ext cx="12096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MD"/>
            </a:defPPr>
            <a:lvl1pPr>
              <a:defRPr sz="3200">
                <a:latin typeface="Century" panose="02040604050505020304" pitchFamily="18" charset="0"/>
                <a:cs typeface="Courier New" panose="02070309020205020404" pitchFamily="49" charset="0"/>
              </a:defRPr>
            </a:lvl1pPr>
          </a:lstStyle>
          <a:p>
            <a:pPr algn="ctr"/>
            <a:r>
              <a:rPr lang="en-US" sz="2400" b="1" dirty="0"/>
              <a:t>multi</a:t>
            </a:r>
          </a:p>
          <a:p>
            <a:pPr algn="ctr"/>
            <a:r>
              <a:rPr lang="en-US" sz="2400" b="1" dirty="0"/>
              <a:t>class</a:t>
            </a:r>
            <a:endParaRPr lang="ru-MD" sz="2400" b="1" dirty="0"/>
          </a:p>
        </p:txBody>
      </p:sp>
      <p:pic>
        <p:nvPicPr>
          <p:cNvPr id="22" name="Picture 2" descr="Curved Arrow Black PNG Transparent Background, Free Download #12453 -  FreeIconsPNG">
            <a:extLst>
              <a:ext uri="{FF2B5EF4-FFF2-40B4-BE49-F238E27FC236}">
                <a16:creationId xmlns:a16="http://schemas.microsoft.com/office/drawing/2014/main" id="{4A3D3EC7-0269-8040-8F53-09DF3A2AFA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85" t="49217"/>
          <a:stretch/>
        </p:blipFill>
        <p:spPr bwMode="auto">
          <a:xfrm rot="13945604" flipV="1">
            <a:off x="9918090" y="5296454"/>
            <a:ext cx="1001310" cy="675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46925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Box 55">
            <a:extLst>
              <a:ext uri="{FF2B5EF4-FFF2-40B4-BE49-F238E27FC236}">
                <a16:creationId xmlns:a16="http://schemas.microsoft.com/office/drawing/2014/main" id="{53AA8605-419D-834E-9615-45F8A5BDE899}"/>
              </a:ext>
            </a:extLst>
          </p:cNvPr>
          <p:cNvSpPr txBox="1"/>
          <p:nvPr/>
        </p:nvSpPr>
        <p:spPr>
          <a:xfrm>
            <a:off x="501762" y="521651"/>
            <a:ext cx="557877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latin typeface="Century" panose="02040604050505020304" pitchFamily="18" charset="0"/>
                <a:cs typeface="Courier New" panose="02070309020205020404" pitchFamily="49" charset="0"/>
              </a:rPr>
              <a:t>Data Understanding</a:t>
            </a:r>
            <a:endParaRPr lang="ru-MD" sz="4400" dirty="0">
              <a:latin typeface="Century" panose="02040604050505020304" pitchFamily="18" charset="0"/>
              <a:cs typeface="Courier New" panose="02070309020205020404" pitchFamily="49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C23CA55-F781-FB48-82D1-A15BECD79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110" y="1291092"/>
            <a:ext cx="1983828" cy="198382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5FB1D33-514B-4940-9112-64EFF82A16F5}"/>
              </a:ext>
            </a:extLst>
          </p:cNvPr>
          <p:cNvSpPr txBox="1"/>
          <p:nvPr/>
        </p:nvSpPr>
        <p:spPr>
          <a:xfrm>
            <a:off x="2921330" y="2456516"/>
            <a:ext cx="38222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MD"/>
            </a:defPPr>
            <a:lvl1pPr>
              <a:defRPr sz="3600">
                <a:latin typeface="Century" panose="02040604050505020304" pitchFamily="18" charset="0"/>
                <a:cs typeface="Courier New" panose="02070309020205020404" pitchFamily="49" charset="0"/>
              </a:defRPr>
            </a:lvl1pPr>
          </a:lstStyle>
          <a:p>
            <a:r>
              <a:rPr lang="en-US" b="1" dirty="0"/>
              <a:t>6 Anomaly Types</a:t>
            </a:r>
            <a:endParaRPr lang="ru-MD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10AEBDC-FC7B-7E4F-823B-845F11F5CEEC}"/>
              </a:ext>
            </a:extLst>
          </p:cNvPr>
          <p:cNvSpPr txBox="1"/>
          <p:nvPr/>
        </p:nvSpPr>
        <p:spPr>
          <a:xfrm>
            <a:off x="2921330" y="1867426"/>
            <a:ext cx="12627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MD"/>
            </a:defPPr>
            <a:lvl1pPr>
              <a:defRPr sz="3600">
                <a:latin typeface="Century" panose="02040604050505020304" pitchFamily="18" charset="0"/>
                <a:cs typeface="Courier New" panose="02070309020205020404" pitchFamily="49" charset="0"/>
              </a:defRPr>
            </a:lvl1pPr>
          </a:lstStyle>
          <a:p>
            <a:r>
              <a:rPr lang="en-US" b="1" dirty="0"/>
              <a:t>Total</a:t>
            </a:r>
            <a:endParaRPr lang="ru-MD" b="1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D828A664-C84F-0343-BFB4-4CBBE327C2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5964" y="3337929"/>
            <a:ext cx="872383" cy="872383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F425660F-CE20-0F49-A98B-C0A3912089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044" y="5539635"/>
            <a:ext cx="988301" cy="988301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5AAE03FF-FFF8-0A44-BF8D-84C4EA384F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9934" y="5614579"/>
            <a:ext cx="838413" cy="838413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9EFA114E-C9D8-A34F-8BC7-C3E9973855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651" y="4430697"/>
            <a:ext cx="891085" cy="891085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44281468-E1AE-3F4B-B94E-5CECA6254A0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29060" y="4336159"/>
            <a:ext cx="1080160" cy="1080160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4F8BC5CE-4812-F94F-AEF1-AB0920AE2F1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0110" y="3279970"/>
            <a:ext cx="988301" cy="988301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F06E7D8D-0A91-FA47-B9B2-186DA2908469}"/>
              </a:ext>
            </a:extLst>
          </p:cNvPr>
          <p:cNvSpPr txBox="1"/>
          <p:nvPr/>
        </p:nvSpPr>
        <p:spPr>
          <a:xfrm>
            <a:off x="1751912" y="5864507"/>
            <a:ext cx="33426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MD"/>
            </a:defPPr>
            <a:lvl1pPr algn="ctr">
              <a:defRPr sz="1600">
                <a:latin typeface="Century" panose="02040604050505020304" pitchFamily="18" charset="0"/>
              </a:defRPr>
            </a:lvl1pPr>
          </a:lstStyle>
          <a:p>
            <a:pPr algn="l"/>
            <a:r>
              <a:rPr lang="en-US" sz="2000" dirty="0"/>
              <a:t>Burst of Transactions</a:t>
            </a:r>
            <a:endParaRPr lang="ru-MD" sz="20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82BC393-C3B7-E24E-90C6-9112441FD76F}"/>
              </a:ext>
            </a:extLst>
          </p:cNvPr>
          <p:cNvSpPr txBox="1"/>
          <p:nvPr/>
        </p:nvSpPr>
        <p:spPr>
          <a:xfrm>
            <a:off x="7312740" y="3480103"/>
            <a:ext cx="45831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MD"/>
            </a:defPPr>
            <a:lvl1pPr algn="ctr">
              <a:defRPr sz="1600">
                <a:latin typeface="Century" panose="02040604050505020304" pitchFamily="18" charset="0"/>
              </a:defRPr>
            </a:lvl1pPr>
          </a:lstStyle>
          <a:p>
            <a:pPr algn="l"/>
            <a:r>
              <a:rPr lang="en-US" sz="2000" dirty="0"/>
              <a:t>Expensive Online Purchase without Verification at Night</a:t>
            </a:r>
            <a:endParaRPr lang="ru-MD" sz="20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AEAE551-6B22-CD42-9AE5-0E271C83173B}"/>
              </a:ext>
            </a:extLst>
          </p:cNvPr>
          <p:cNvSpPr txBox="1"/>
          <p:nvPr/>
        </p:nvSpPr>
        <p:spPr>
          <a:xfrm>
            <a:off x="1751912" y="3502426"/>
            <a:ext cx="41008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MD"/>
            </a:defPPr>
            <a:lvl1pPr algn="ctr">
              <a:defRPr sz="1600">
                <a:latin typeface="Century" panose="02040604050505020304" pitchFamily="18" charset="0"/>
              </a:defRPr>
            </a:lvl1pPr>
          </a:lstStyle>
          <a:p>
            <a:pPr algn="l"/>
            <a:r>
              <a:rPr lang="en-US" sz="2000" dirty="0"/>
              <a:t>Uncommon Country + Unusual Currency</a:t>
            </a:r>
            <a:endParaRPr lang="ru-MD" sz="2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3FB16A3-FDDD-7843-8557-B7991E4BBB25}"/>
              </a:ext>
            </a:extLst>
          </p:cNvPr>
          <p:cNvSpPr txBox="1"/>
          <p:nvPr/>
        </p:nvSpPr>
        <p:spPr>
          <a:xfrm>
            <a:off x="7309220" y="5864507"/>
            <a:ext cx="47056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MD"/>
            </a:defPPr>
            <a:lvl1pPr algn="ctr">
              <a:defRPr sz="1600">
                <a:latin typeface="Century" panose="02040604050505020304" pitchFamily="18" charset="0"/>
              </a:defRPr>
            </a:lvl1pPr>
          </a:lstStyle>
          <a:p>
            <a:pPr algn="l"/>
            <a:r>
              <a:rPr lang="en-US" sz="2000" dirty="0"/>
              <a:t>Distance and Location Don’t Match</a:t>
            </a:r>
            <a:endParaRPr lang="ru-MD" sz="20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DCB1D42-6388-B34C-A736-528708743C5D}"/>
              </a:ext>
            </a:extLst>
          </p:cNvPr>
          <p:cNvSpPr txBox="1"/>
          <p:nvPr/>
        </p:nvSpPr>
        <p:spPr>
          <a:xfrm>
            <a:off x="7309220" y="4653384"/>
            <a:ext cx="46633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MD"/>
            </a:defPPr>
            <a:lvl1pPr algn="ctr">
              <a:defRPr sz="1600">
                <a:latin typeface="Century" panose="02040604050505020304" pitchFamily="18" charset="0"/>
              </a:defRPr>
            </a:lvl1pPr>
          </a:lstStyle>
          <a:p>
            <a:pPr algn="l"/>
            <a:r>
              <a:rPr lang="en-US" sz="2000" dirty="0"/>
              <a:t>Abroad Transaction from New Device with High IP Risk</a:t>
            </a:r>
            <a:endParaRPr lang="ru-MD" sz="20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B8FF276-A990-D240-90A5-8468560485A7}"/>
              </a:ext>
            </a:extLst>
          </p:cNvPr>
          <p:cNvSpPr txBox="1"/>
          <p:nvPr/>
        </p:nvSpPr>
        <p:spPr>
          <a:xfrm>
            <a:off x="1751912" y="4662104"/>
            <a:ext cx="37112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MD"/>
            </a:defPPr>
            <a:lvl1pPr algn="ctr">
              <a:defRPr sz="1600">
                <a:latin typeface="Century" panose="02040604050505020304" pitchFamily="18" charset="0"/>
              </a:defRPr>
            </a:lvl1pPr>
          </a:lstStyle>
          <a:p>
            <a:pPr algn="l"/>
            <a:r>
              <a:rPr lang="en-US" sz="2000" dirty="0"/>
              <a:t>POS purchase with Magnetic Stripe at Night </a:t>
            </a:r>
            <a:endParaRPr lang="ru-MD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2122F7-9E33-C444-BDC2-69CA25B2846B}"/>
              </a:ext>
            </a:extLst>
          </p:cNvPr>
          <p:cNvSpPr txBox="1"/>
          <p:nvPr/>
        </p:nvSpPr>
        <p:spPr>
          <a:xfrm>
            <a:off x="8777546" y="1867426"/>
            <a:ext cx="311835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MD"/>
            </a:defPPr>
            <a:lvl1pPr>
              <a:defRPr sz="3600" b="1">
                <a:latin typeface="Century" panose="02040604050505020304" pitchFamily="18" charset="0"/>
                <a:cs typeface="Courier New" panose="02070309020205020404" pitchFamily="49" charset="0"/>
              </a:defRPr>
            </a:lvl1pPr>
          </a:lstStyle>
          <a:p>
            <a:r>
              <a:rPr lang="en-US"/>
              <a:t>97% - Normal</a:t>
            </a:r>
            <a:endParaRPr lang="en-US" dirty="0"/>
          </a:p>
          <a:p>
            <a:r>
              <a:rPr lang="en-US"/>
              <a:t>3% - </a:t>
            </a:r>
            <a:r>
              <a:rPr lang="en-US" dirty="0"/>
              <a:t>Anomaly</a:t>
            </a:r>
            <a:endParaRPr lang="ru-MD" dirty="0"/>
          </a:p>
        </p:txBody>
      </p:sp>
    </p:spTree>
    <p:extLst>
      <p:ext uri="{BB962C8B-B14F-4D97-AF65-F5344CB8AC3E}">
        <p14:creationId xmlns:p14="http://schemas.microsoft.com/office/powerpoint/2010/main" val="25252521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0AF3445C-9CFA-3B41-A4BA-69CA9B5DE123}"/>
              </a:ext>
            </a:extLst>
          </p:cNvPr>
          <p:cNvSpPr txBox="1"/>
          <p:nvPr/>
        </p:nvSpPr>
        <p:spPr>
          <a:xfrm>
            <a:off x="501762" y="521651"/>
            <a:ext cx="476444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latin typeface="Century" panose="02040604050505020304" pitchFamily="18" charset="0"/>
                <a:cs typeface="Courier New" panose="02070309020205020404" pitchFamily="49" charset="0"/>
              </a:rPr>
              <a:t>Data Preparation</a:t>
            </a:r>
            <a:endParaRPr lang="ru-MD" sz="4400" dirty="0">
              <a:latin typeface="Century" panose="02040604050505020304" pitchFamily="18" charset="0"/>
              <a:cs typeface="Courier New" panose="02070309020205020404" pitchFamily="49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8000D31-B189-F74B-953C-E8355A5E95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5436" y="1748098"/>
            <a:ext cx="1316270" cy="131627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10F9188-257F-7043-B85D-CF4BA17C07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9820" y="3706790"/>
            <a:ext cx="1224148" cy="1224148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FCF5FEE-FA7D-5C43-B48B-7BC8154C62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1675" y="1559698"/>
            <a:ext cx="1461655" cy="146165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0A4887D-0445-444E-9913-DC8770360C40}"/>
              </a:ext>
            </a:extLst>
          </p:cNvPr>
          <p:cNvSpPr txBox="1"/>
          <p:nvPr/>
        </p:nvSpPr>
        <p:spPr>
          <a:xfrm>
            <a:off x="443470" y="1725887"/>
            <a:ext cx="68640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latin typeface="Century" panose="02040604050505020304" pitchFamily="18" charset="0"/>
              </a:rPr>
              <a:t>1)</a:t>
            </a:r>
            <a:endParaRPr lang="ru-MD" sz="4400" dirty="0">
              <a:latin typeface="Century" panose="020406040505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EE7B5E-0853-594B-9887-F019F0F9C302}"/>
              </a:ext>
            </a:extLst>
          </p:cNvPr>
          <p:cNvSpPr txBox="1"/>
          <p:nvPr/>
        </p:nvSpPr>
        <p:spPr>
          <a:xfrm>
            <a:off x="5835269" y="1724579"/>
            <a:ext cx="68640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latin typeface="Century" panose="02040604050505020304" pitchFamily="18" charset="0"/>
              </a:rPr>
              <a:t>2)</a:t>
            </a:r>
            <a:endParaRPr lang="ru-MD" sz="4400" dirty="0">
              <a:latin typeface="Century" panose="020406040505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779CAC-3D42-D34B-A8D3-14DB1BBB8A2E}"/>
              </a:ext>
            </a:extLst>
          </p:cNvPr>
          <p:cNvSpPr txBox="1"/>
          <p:nvPr/>
        </p:nvSpPr>
        <p:spPr>
          <a:xfrm>
            <a:off x="501762" y="3706790"/>
            <a:ext cx="68640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400" dirty="0">
                <a:latin typeface="Century" panose="02040604050505020304" pitchFamily="18" charset="0"/>
              </a:rPr>
              <a:t>3</a:t>
            </a:r>
            <a:r>
              <a:rPr lang="en-US" sz="4400" dirty="0">
                <a:latin typeface="Century" panose="02040604050505020304" pitchFamily="18" charset="0"/>
              </a:rPr>
              <a:t>)</a:t>
            </a:r>
            <a:endParaRPr lang="ru-MD" sz="4400" dirty="0">
              <a:latin typeface="Century" panose="020406040505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C52C69-DDF3-2543-952C-4934A0006CA5}"/>
              </a:ext>
            </a:extLst>
          </p:cNvPr>
          <p:cNvSpPr txBox="1"/>
          <p:nvPr/>
        </p:nvSpPr>
        <p:spPr>
          <a:xfrm>
            <a:off x="2668928" y="1725886"/>
            <a:ext cx="24320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Century" panose="02040604050505020304" pitchFamily="18" charset="0"/>
              </a:rPr>
              <a:t>Drop duplicates</a:t>
            </a:r>
            <a:endParaRPr lang="ru-MD" sz="2400" b="1" dirty="0">
              <a:latin typeface="Century" panose="020406040505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A6461E-5312-BD49-A075-B3A966A397E8}"/>
              </a:ext>
            </a:extLst>
          </p:cNvPr>
          <p:cNvSpPr txBox="1"/>
          <p:nvPr/>
        </p:nvSpPr>
        <p:spPr>
          <a:xfrm>
            <a:off x="2674121" y="2131616"/>
            <a:ext cx="29962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entury" panose="02040604050505020304" pitchFamily="18" charset="0"/>
              </a:rPr>
              <a:t>We didn’t have any</a:t>
            </a:r>
            <a:endParaRPr lang="ru-MD" sz="2400" dirty="0">
              <a:latin typeface="Century" panose="020406040505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B2B3DD-AFB9-5546-AA78-E70F868093C1}"/>
              </a:ext>
            </a:extLst>
          </p:cNvPr>
          <p:cNvSpPr txBox="1"/>
          <p:nvPr/>
        </p:nvSpPr>
        <p:spPr>
          <a:xfrm>
            <a:off x="7983330" y="1724579"/>
            <a:ext cx="19983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Century" panose="02040604050505020304" pitchFamily="18" charset="0"/>
              </a:rPr>
              <a:t>NA handling</a:t>
            </a:r>
            <a:endParaRPr lang="ru-MD" sz="2400" b="1" dirty="0">
              <a:latin typeface="Century" panose="020406040505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02C0A66-A706-D74B-A57A-8E17959E603C}"/>
              </a:ext>
            </a:extLst>
          </p:cNvPr>
          <p:cNvSpPr txBox="1"/>
          <p:nvPr/>
        </p:nvSpPr>
        <p:spPr>
          <a:xfrm>
            <a:off x="7988524" y="2076165"/>
            <a:ext cx="404950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entury" panose="02040604050505020304" pitchFamily="18" charset="0"/>
              </a:rPr>
              <a:t>In 1 column – 3DES result:</a:t>
            </a:r>
          </a:p>
          <a:p>
            <a:r>
              <a:rPr lang="en-US" sz="2400" dirty="0">
                <a:latin typeface="Century" panose="02040604050505020304" pitchFamily="18" charset="0"/>
              </a:rPr>
              <a:t>NA = unknown</a:t>
            </a:r>
            <a:endParaRPr lang="ru-MD" sz="2400" dirty="0">
              <a:latin typeface="Century" panose="020406040505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A2E2A4-2D0F-AD4D-BD75-9DA765549E10}"/>
              </a:ext>
            </a:extLst>
          </p:cNvPr>
          <p:cNvSpPr txBox="1"/>
          <p:nvPr/>
        </p:nvSpPr>
        <p:spPr>
          <a:xfrm>
            <a:off x="2661706" y="3698898"/>
            <a:ext cx="26420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Century" panose="02040604050505020304" pitchFamily="18" charset="0"/>
              </a:rPr>
              <a:t>Feature selection</a:t>
            </a:r>
            <a:endParaRPr lang="ru-MD" sz="2400" b="1" dirty="0">
              <a:latin typeface="Century" panose="020406040505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1DDD56E-5832-A740-A26B-8CF0AE827673}"/>
              </a:ext>
            </a:extLst>
          </p:cNvPr>
          <p:cNvSpPr txBox="1"/>
          <p:nvPr/>
        </p:nvSpPr>
        <p:spPr>
          <a:xfrm>
            <a:off x="2665514" y="4137115"/>
            <a:ext cx="745268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u="sng" dirty="0">
                <a:latin typeface="Century" panose="02040604050505020304" pitchFamily="18" charset="0"/>
              </a:rPr>
              <a:t>redundant</a:t>
            </a:r>
            <a:r>
              <a:rPr lang="en-US" sz="2400" dirty="0">
                <a:latin typeface="Century" panose="02040604050505020304" pitchFamily="18" charset="0"/>
              </a:rPr>
              <a:t> – cluster id (but we keep cluster name), </a:t>
            </a:r>
          </a:p>
          <a:p>
            <a:r>
              <a:rPr lang="en-US" sz="2400" dirty="0">
                <a:latin typeface="Century" panose="02040604050505020304" pitchFamily="18" charset="0"/>
              </a:rPr>
              <a:t>                     amount ccy (but we keep amount mdl) </a:t>
            </a:r>
            <a:endParaRPr lang="ru-MD" sz="2400" dirty="0">
              <a:latin typeface="Century" panose="020406040505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8A1841B-535E-6646-8176-5AF9F48856D9}"/>
              </a:ext>
            </a:extLst>
          </p:cNvPr>
          <p:cNvSpPr txBox="1"/>
          <p:nvPr/>
        </p:nvSpPr>
        <p:spPr>
          <a:xfrm>
            <a:off x="2655620" y="4912171"/>
            <a:ext cx="537198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u="sng" dirty="0">
                <a:latin typeface="Century" panose="02040604050505020304" pitchFamily="18" charset="0"/>
              </a:rPr>
              <a:t>giving hints</a:t>
            </a:r>
            <a:r>
              <a:rPr lang="en-US" sz="2400" dirty="0">
                <a:latin typeface="Century" panose="02040604050505020304" pitchFamily="18" charset="0"/>
              </a:rPr>
              <a:t> – suspicion flag,</a:t>
            </a:r>
          </a:p>
          <a:p>
            <a:r>
              <a:rPr lang="en-US" sz="2400" dirty="0">
                <a:latin typeface="Century" panose="02040604050505020304" pitchFamily="18" charset="0"/>
              </a:rPr>
              <a:t>                        anomaly score, </a:t>
            </a:r>
          </a:p>
          <a:p>
            <a:r>
              <a:rPr lang="en-US" sz="2400" dirty="0">
                <a:latin typeface="Century" panose="02040604050505020304" pitchFamily="18" charset="0"/>
              </a:rPr>
              <a:t>                        anomaly type,</a:t>
            </a:r>
          </a:p>
          <a:p>
            <a:r>
              <a:rPr lang="en-US" sz="2400" dirty="0">
                <a:latin typeface="Century" panose="02040604050505020304" pitchFamily="18" charset="0"/>
              </a:rPr>
              <a:t>                        anomaly ground truth</a:t>
            </a:r>
            <a:endParaRPr lang="ru-MD" sz="2400" dirty="0"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22138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0AF3445C-9CFA-3B41-A4BA-69CA9B5DE123}"/>
              </a:ext>
            </a:extLst>
          </p:cNvPr>
          <p:cNvSpPr txBox="1"/>
          <p:nvPr/>
        </p:nvSpPr>
        <p:spPr>
          <a:xfrm>
            <a:off x="501762" y="521651"/>
            <a:ext cx="476444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latin typeface="Century" panose="02040604050505020304" pitchFamily="18" charset="0"/>
                <a:cs typeface="Courier New" panose="02070309020205020404" pitchFamily="49" charset="0"/>
              </a:rPr>
              <a:t>Data Preparation</a:t>
            </a:r>
            <a:endParaRPr lang="ru-MD" sz="4400" dirty="0">
              <a:latin typeface="Century" panose="02040604050505020304" pitchFamily="18" charset="0"/>
              <a:cs typeface="Courier New" panose="02070309020205020404" pitchFamily="49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9C1CC80-D455-6C44-B85F-49B4A37B38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7138" y="1588539"/>
            <a:ext cx="1224148" cy="1224148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C83BC3F-ADB2-654E-9426-CCE152C842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258" y="5020078"/>
            <a:ext cx="1316271" cy="131627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24135E5-89A8-D54D-92A3-8AA58B64CD59}"/>
              </a:ext>
            </a:extLst>
          </p:cNvPr>
          <p:cNvSpPr txBox="1"/>
          <p:nvPr/>
        </p:nvSpPr>
        <p:spPr>
          <a:xfrm>
            <a:off x="501762" y="1745376"/>
            <a:ext cx="68640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400" dirty="0">
                <a:latin typeface="Century" panose="02040604050505020304" pitchFamily="18" charset="0"/>
              </a:rPr>
              <a:t>4</a:t>
            </a:r>
            <a:r>
              <a:rPr lang="en-US" sz="4400" dirty="0">
                <a:latin typeface="Century" panose="02040604050505020304" pitchFamily="18" charset="0"/>
              </a:rPr>
              <a:t>)</a:t>
            </a:r>
            <a:endParaRPr lang="ru-MD" sz="4400" dirty="0">
              <a:latin typeface="Century" panose="020406040505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2DDA48-E9CD-D842-A14E-15591CAD9A2E}"/>
              </a:ext>
            </a:extLst>
          </p:cNvPr>
          <p:cNvSpPr txBox="1"/>
          <p:nvPr/>
        </p:nvSpPr>
        <p:spPr>
          <a:xfrm>
            <a:off x="432976" y="5293492"/>
            <a:ext cx="68640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400" dirty="0">
                <a:latin typeface="Century" panose="02040604050505020304" pitchFamily="18" charset="0"/>
              </a:rPr>
              <a:t>5</a:t>
            </a:r>
            <a:r>
              <a:rPr lang="en-US" sz="4400" dirty="0">
                <a:latin typeface="Century" panose="02040604050505020304" pitchFamily="18" charset="0"/>
              </a:rPr>
              <a:t>)</a:t>
            </a:r>
            <a:endParaRPr lang="ru-MD" sz="4400" dirty="0">
              <a:latin typeface="Century" panose="020406040505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F0C8131-572C-1745-8178-D011C9DA0AAB}"/>
              </a:ext>
            </a:extLst>
          </p:cNvPr>
          <p:cNvSpPr txBox="1"/>
          <p:nvPr/>
        </p:nvSpPr>
        <p:spPr>
          <a:xfrm>
            <a:off x="2639617" y="1544304"/>
            <a:ext cx="1511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Century" panose="02040604050505020304" pitchFamily="18" charset="0"/>
              </a:rPr>
              <a:t>Encoding</a:t>
            </a:r>
            <a:endParaRPr lang="ru-MD" sz="2400" b="1" dirty="0">
              <a:latin typeface="Century" panose="020406040505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804259D-5D70-6F49-BA01-21D9CADD5953}"/>
              </a:ext>
            </a:extLst>
          </p:cNvPr>
          <p:cNvSpPr txBox="1"/>
          <p:nvPr/>
        </p:nvSpPr>
        <p:spPr>
          <a:xfrm>
            <a:off x="2668928" y="5020078"/>
            <a:ext cx="24135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Century" panose="02040604050505020304" pitchFamily="18" charset="0"/>
              </a:rPr>
              <a:t>Train/Test Split</a:t>
            </a:r>
            <a:endParaRPr lang="ru-MD" sz="2400" b="1" dirty="0">
              <a:latin typeface="Century" panose="020406040505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29432E-D699-3941-8ED1-9AC50277FEBA}"/>
              </a:ext>
            </a:extLst>
          </p:cNvPr>
          <p:cNvSpPr txBox="1"/>
          <p:nvPr/>
        </p:nvSpPr>
        <p:spPr>
          <a:xfrm>
            <a:off x="2705232" y="1967382"/>
            <a:ext cx="9829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MD"/>
            </a:defPPr>
            <a:lvl1pPr>
              <a:defRPr sz="2400">
                <a:latin typeface="Century" panose="02040604050505020304" pitchFamily="18" charset="0"/>
              </a:defRPr>
            </a:lvl1pPr>
          </a:lstStyle>
          <a:p>
            <a:r>
              <a:rPr lang="en-US" dirty="0"/>
              <a:t>Label</a:t>
            </a:r>
            <a:endParaRPr lang="ru-MD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F0C0E09-E43E-F941-B7FF-5816654EF15E}"/>
              </a:ext>
            </a:extLst>
          </p:cNvPr>
          <p:cNvSpPr txBox="1"/>
          <p:nvPr/>
        </p:nvSpPr>
        <p:spPr>
          <a:xfrm>
            <a:off x="4295323" y="1976087"/>
            <a:ext cx="12875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MD"/>
            </a:defPPr>
            <a:lvl1pPr>
              <a:defRPr sz="2400">
                <a:latin typeface="Century" panose="02040604050505020304" pitchFamily="18" charset="0"/>
              </a:defRPr>
            </a:lvl1pPr>
          </a:lstStyle>
          <a:p>
            <a:r>
              <a:rPr lang="en-US" dirty="0"/>
              <a:t>Ordinal</a:t>
            </a:r>
            <a:endParaRPr lang="ru-MD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C4D40C0-0B3D-674A-A5CA-EA96414D888C}"/>
              </a:ext>
            </a:extLst>
          </p:cNvPr>
          <p:cNvSpPr txBox="1"/>
          <p:nvPr/>
        </p:nvSpPr>
        <p:spPr>
          <a:xfrm>
            <a:off x="6506140" y="1976087"/>
            <a:ext cx="13981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MD"/>
            </a:defPPr>
            <a:lvl1pPr>
              <a:defRPr sz="2400">
                <a:latin typeface="Century" panose="02040604050505020304" pitchFamily="18" charset="0"/>
              </a:defRPr>
            </a:lvl1pPr>
          </a:lstStyle>
          <a:p>
            <a:r>
              <a:rPr lang="en-US" dirty="0"/>
              <a:t>One-Hot</a:t>
            </a:r>
            <a:endParaRPr lang="ru-MD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8F72F6B-C2F4-CF4A-A679-A4FD67B1438F}"/>
              </a:ext>
            </a:extLst>
          </p:cNvPr>
          <p:cNvSpPr txBox="1"/>
          <p:nvPr/>
        </p:nvSpPr>
        <p:spPr>
          <a:xfrm>
            <a:off x="2673358" y="5481743"/>
            <a:ext cx="16385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MD"/>
            </a:defPPr>
            <a:lvl1pPr>
              <a:defRPr sz="2400">
                <a:latin typeface="Century" panose="02040604050505020304" pitchFamily="18" charset="0"/>
              </a:defRPr>
            </a:lvl1pPr>
          </a:lstStyle>
          <a:p>
            <a:r>
              <a:rPr lang="en-US" dirty="0"/>
              <a:t>80% / 20%</a:t>
            </a:r>
            <a:endParaRPr lang="ru-MD" dirty="0"/>
          </a:p>
        </p:txBody>
      </p:sp>
      <p:graphicFrame>
        <p:nvGraphicFramePr>
          <p:cNvPr id="36" name="Таблица 36">
            <a:extLst>
              <a:ext uri="{FF2B5EF4-FFF2-40B4-BE49-F238E27FC236}">
                <a16:creationId xmlns:a16="http://schemas.microsoft.com/office/drawing/2014/main" id="{95415E3B-C5D6-C543-AD44-719C51A19C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4172741"/>
              </p:ext>
            </p:extLst>
          </p:nvPr>
        </p:nvGraphicFramePr>
        <p:xfrm>
          <a:off x="2765396" y="2514817"/>
          <a:ext cx="1224147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147">
                  <a:extLst>
                    <a:ext uri="{9D8B030D-6E8A-4147-A177-3AD203B41FA5}">
                      <a16:colId xmlns:a16="http://schemas.microsoft.com/office/drawing/2014/main" val="33936616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rPr>
                        <a:t>Card</a:t>
                      </a:r>
                      <a:endParaRPr lang="ru-MD" b="1" dirty="0">
                        <a:solidFill>
                          <a:schemeClr val="tx1"/>
                        </a:solidFill>
                        <a:latin typeface="Century" panose="020406040505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4375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rPr>
                        <a:t>0 (debit)</a:t>
                      </a:r>
                      <a:endParaRPr lang="ru-MD" b="0" dirty="0">
                        <a:solidFill>
                          <a:schemeClr val="tx1"/>
                        </a:solidFill>
                        <a:latin typeface="Century" panose="020406040505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8664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rPr>
                        <a:t>1 (credit)</a:t>
                      </a:r>
                      <a:endParaRPr lang="ru-MD" b="0" dirty="0">
                        <a:solidFill>
                          <a:schemeClr val="tx1"/>
                        </a:solidFill>
                        <a:latin typeface="Century" panose="020406040505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058560"/>
                  </a:ext>
                </a:extLst>
              </a:tr>
            </a:tbl>
          </a:graphicData>
        </a:graphic>
      </p:graphicFrame>
      <p:graphicFrame>
        <p:nvGraphicFramePr>
          <p:cNvPr id="38" name="Таблица 38">
            <a:extLst>
              <a:ext uri="{FF2B5EF4-FFF2-40B4-BE49-F238E27FC236}">
                <a16:creationId xmlns:a16="http://schemas.microsoft.com/office/drawing/2014/main" id="{5B5EFC53-E0B5-2C47-8449-F09DF356B5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7016147"/>
              </p:ext>
            </p:extLst>
          </p:nvPr>
        </p:nvGraphicFramePr>
        <p:xfrm>
          <a:off x="4356417" y="2510321"/>
          <a:ext cx="1708863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8863">
                  <a:extLst>
                    <a:ext uri="{9D8B030D-6E8A-4147-A177-3AD203B41FA5}">
                      <a16:colId xmlns:a16="http://schemas.microsoft.com/office/drawing/2014/main" val="19745232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rPr>
                        <a:t>Account</a:t>
                      </a:r>
                      <a:endParaRPr lang="ru-MD" dirty="0">
                        <a:solidFill>
                          <a:schemeClr val="tx1"/>
                        </a:solidFill>
                        <a:latin typeface="Century" panose="020406040505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544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rPr>
                        <a:t>0 (standard)</a:t>
                      </a:r>
                      <a:endParaRPr lang="ru-MD" dirty="0">
                        <a:solidFill>
                          <a:schemeClr val="tx1"/>
                        </a:solidFill>
                        <a:latin typeface="Century" panose="020406040505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1225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rPr>
                        <a:t>1 (gold)</a:t>
                      </a:r>
                      <a:endParaRPr lang="ru-MD" dirty="0">
                        <a:solidFill>
                          <a:schemeClr val="tx1"/>
                        </a:solidFill>
                        <a:latin typeface="Century" panose="020406040505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83314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rPr>
                        <a:t>2 (platinum)</a:t>
                      </a:r>
                      <a:endParaRPr lang="ru-MD" dirty="0">
                        <a:solidFill>
                          <a:schemeClr val="tx1"/>
                        </a:solidFill>
                        <a:latin typeface="Century" panose="020406040505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4537134"/>
                  </a:ext>
                </a:extLst>
              </a:tr>
            </a:tbl>
          </a:graphicData>
        </a:graphic>
      </p:graphicFrame>
      <p:graphicFrame>
        <p:nvGraphicFramePr>
          <p:cNvPr id="41" name="Таблица 41">
            <a:extLst>
              <a:ext uri="{FF2B5EF4-FFF2-40B4-BE49-F238E27FC236}">
                <a16:creationId xmlns:a16="http://schemas.microsoft.com/office/drawing/2014/main" id="{7F5B3929-DCCA-334B-A28F-0A057955CC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9044747"/>
              </p:ext>
            </p:extLst>
          </p:nvPr>
        </p:nvGraphicFramePr>
        <p:xfrm>
          <a:off x="6612153" y="2506090"/>
          <a:ext cx="982961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2961">
                  <a:extLst>
                    <a:ext uri="{9D8B030D-6E8A-4147-A177-3AD203B41FA5}">
                      <a16:colId xmlns:a16="http://schemas.microsoft.com/office/drawing/2014/main" val="34783233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rPr>
                        <a:t>CCY</a:t>
                      </a:r>
                      <a:endParaRPr lang="ru-MD" dirty="0">
                        <a:solidFill>
                          <a:schemeClr val="tx1"/>
                        </a:solidFill>
                        <a:latin typeface="Century" panose="020406040505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78199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Century" panose="02040604050505020304" pitchFamily="18" charset="0"/>
                          <a:ea typeface="+mn-ea"/>
                          <a:cs typeface="+mn-cs"/>
                        </a:rPr>
                        <a:t>MDL</a:t>
                      </a:r>
                      <a:endParaRPr lang="ru-MD" sz="1800" b="0" kern="1200" dirty="0">
                        <a:solidFill>
                          <a:schemeClr val="tx1"/>
                        </a:solidFill>
                        <a:latin typeface="Century" panose="02040604050505020304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5945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rPr>
                        <a:t>USD</a:t>
                      </a:r>
                      <a:endParaRPr lang="ru-MD" dirty="0">
                        <a:solidFill>
                          <a:schemeClr val="tx1"/>
                        </a:solidFill>
                        <a:latin typeface="Century" panose="020406040505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5013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rPr>
                        <a:t>EUR</a:t>
                      </a:r>
                      <a:endParaRPr lang="ru-MD" dirty="0">
                        <a:solidFill>
                          <a:schemeClr val="tx1"/>
                        </a:solidFill>
                        <a:latin typeface="Century" panose="020406040505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8488406"/>
                  </a:ext>
                </a:extLst>
              </a:tr>
            </a:tbl>
          </a:graphicData>
        </a:graphic>
      </p:graphicFrame>
      <p:graphicFrame>
        <p:nvGraphicFramePr>
          <p:cNvPr id="42" name="Таблица 42">
            <a:extLst>
              <a:ext uri="{FF2B5EF4-FFF2-40B4-BE49-F238E27FC236}">
                <a16:creationId xmlns:a16="http://schemas.microsoft.com/office/drawing/2014/main" id="{4CC97D11-E85C-0F49-A314-65AF578770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3015287"/>
              </p:ext>
            </p:extLst>
          </p:nvPr>
        </p:nvGraphicFramePr>
        <p:xfrm>
          <a:off x="7904280" y="2506090"/>
          <a:ext cx="4064931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977">
                  <a:extLst>
                    <a:ext uri="{9D8B030D-6E8A-4147-A177-3AD203B41FA5}">
                      <a16:colId xmlns:a16="http://schemas.microsoft.com/office/drawing/2014/main" val="1063079498"/>
                    </a:ext>
                  </a:extLst>
                </a:gridCol>
                <a:gridCol w="1354977">
                  <a:extLst>
                    <a:ext uri="{9D8B030D-6E8A-4147-A177-3AD203B41FA5}">
                      <a16:colId xmlns:a16="http://schemas.microsoft.com/office/drawing/2014/main" val="3236703209"/>
                    </a:ext>
                  </a:extLst>
                </a:gridCol>
                <a:gridCol w="1354977">
                  <a:extLst>
                    <a:ext uri="{9D8B030D-6E8A-4147-A177-3AD203B41FA5}">
                      <a16:colId xmlns:a16="http://schemas.microsoft.com/office/drawing/2014/main" val="42192525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rPr>
                        <a:t>CCY_MDL</a:t>
                      </a:r>
                      <a:endParaRPr lang="ru-MD" dirty="0">
                        <a:solidFill>
                          <a:schemeClr val="tx1"/>
                        </a:solidFill>
                        <a:latin typeface="Century" panose="020406040505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rPr>
                        <a:t>CCY_USD</a:t>
                      </a:r>
                      <a:endParaRPr lang="ru-MD" dirty="0">
                        <a:solidFill>
                          <a:schemeClr val="tx1"/>
                        </a:solidFill>
                        <a:latin typeface="Century" panose="020406040505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rPr>
                        <a:t>CCY_EUR</a:t>
                      </a:r>
                      <a:endParaRPr lang="ru-MD" dirty="0">
                        <a:solidFill>
                          <a:schemeClr val="tx1"/>
                        </a:solidFill>
                        <a:latin typeface="Century" panose="020406040505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08484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rPr>
                        <a:t>1</a:t>
                      </a:r>
                      <a:endParaRPr lang="ru-MD" dirty="0">
                        <a:solidFill>
                          <a:schemeClr val="tx1"/>
                        </a:solidFill>
                        <a:latin typeface="Century" panose="020406040505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rPr>
                        <a:t>0</a:t>
                      </a:r>
                      <a:endParaRPr lang="ru-MD" dirty="0">
                        <a:solidFill>
                          <a:schemeClr val="tx1"/>
                        </a:solidFill>
                        <a:latin typeface="Century" panose="020406040505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rPr>
                        <a:t>0</a:t>
                      </a:r>
                      <a:endParaRPr lang="ru-MD" dirty="0">
                        <a:solidFill>
                          <a:schemeClr val="tx1"/>
                        </a:solidFill>
                        <a:latin typeface="Century" panose="020406040505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73308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rPr>
                        <a:t>0</a:t>
                      </a:r>
                      <a:endParaRPr lang="ru-MD" dirty="0">
                        <a:solidFill>
                          <a:schemeClr val="tx1"/>
                        </a:solidFill>
                        <a:latin typeface="Century" panose="020406040505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rPr>
                        <a:t>1</a:t>
                      </a:r>
                      <a:endParaRPr lang="ru-MD" dirty="0">
                        <a:solidFill>
                          <a:schemeClr val="tx1"/>
                        </a:solidFill>
                        <a:latin typeface="Century" panose="020406040505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rPr>
                        <a:t>0</a:t>
                      </a:r>
                      <a:endParaRPr lang="ru-MD" dirty="0">
                        <a:solidFill>
                          <a:schemeClr val="tx1"/>
                        </a:solidFill>
                        <a:latin typeface="Century" panose="020406040505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52652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rPr>
                        <a:t>0</a:t>
                      </a:r>
                      <a:endParaRPr lang="ru-MD" dirty="0">
                        <a:solidFill>
                          <a:schemeClr val="tx1"/>
                        </a:solidFill>
                        <a:latin typeface="Century" panose="020406040505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rPr>
                        <a:t>0</a:t>
                      </a:r>
                      <a:endParaRPr lang="ru-MD" dirty="0">
                        <a:solidFill>
                          <a:schemeClr val="tx1"/>
                        </a:solidFill>
                        <a:latin typeface="Century" panose="020406040505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rPr>
                        <a:t>1</a:t>
                      </a:r>
                      <a:endParaRPr lang="ru-MD" dirty="0">
                        <a:solidFill>
                          <a:schemeClr val="tx1"/>
                        </a:solidFill>
                        <a:latin typeface="Century" panose="020406040505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4318898"/>
                  </a:ext>
                </a:extLst>
              </a:tr>
            </a:tbl>
          </a:graphicData>
        </a:graphic>
      </p:graphicFrame>
      <p:pic>
        <p:nvPicPr>
          <p:cNvPr id="45" name="Picture 2" descr="Curved Arrow Black PNG Transparent Background, Free Download #12453 -  FreeIconsPNG">
            <a:extLst>
              <a:ext uri="{FF2B5EF4-FFF2-40B4-BE49-F238E27FC236}">
                <a16:creationId xmlns:a16="http://schemas.microsoft.com/office/drawing/2014/main" id="{EA4EA338-CD67-3A42-98E8-8644D8DC0D2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058"/>
          <a:stretch/>
        </p:blipFill>
        <p:spPr bwMode="auto">
          <a:xfrm rot="20530205">
            <a:off x="7147092" y="3869940"/>
            <a:ext cx="941973" cy="431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2" descr="Curved Arrow Black PNG Transparent Background, Free Download #12453 -  FreeIconsPNG">
            <a:extLst>
              <a:ext uri="{FF2B5EF4-FFF2-40B4-BE49-F238E27FC236}">
                <a16:creationId xmlns:a16="http://schemas.microsoft.com/office/drawing/2014/main" id="{253EFC06-1A0A-F847-94B7-FF28A41388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85" t="49217"/>
          <a:stretch/>
        </p:blipFill>
        <p:spPr bwMode="auto">
          <a:xfrm rot="13945604" flipV="1">
            <a:off x="4568909" y="4060375"/>
            <a:ext cx="740361" cy="499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" name="Picture 2" descr="Curved Arrow Black PNG Transparent Background, Free Download #12453 -  FreeIconsPNG">
            <a:extLst>
              <a:ext uri="{FF2B5EF4-FFF2-40B4-BE49-F238E27FC236}">
                <a16:creationId xmlns:a16="http://schemas.microsoft.com/office/drawing/2014/main" id="{0E762F79-7AB2-954E-939D-6DB29A8FC4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85" t="49217"/>
          <a:stretch/>
        </p:blipFill>
        <p:spPr bwMode="auto">
          <a:xfrm rot="7654396" flipH="1" flipV="1">
            <a:off x="2251156" y="3616854"/>
            <a:ext cx="740361" cy="499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9708BB25-0A1A-AF46-840F-CDF983D2830F}"/>
              </a:ext>
            </a:extLst>
          </p:cNvPr>
          <p:cNvSpPr txBox="1"/>
          <p:nvPr/>
        </p:nvSpPr>
        <p:spPr>
          <a:xfrm rot="20745609">
            <a:off x="602072" y="3769201"/>
            <a:ext cx="1950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entury" panose="02040604050505020304" pitchFamily="18" charset="0"/>
              </a:rPr>
              <a:t>Binary feature</a:t>
            </a:r>
            <a:endParaRPr lang="ru-MD" b="1" dirty="0">
              <a:latin typeface="Century" panose="02040604050505020304" pitchFamily="18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D4D1349-2B59-4044-A102-9A4FAAB52977}"/>
              </a:ext>
            </a:extLst>
          </p:cNvPr>
          <p:cNvSpPr txBox="1"/>
          <p:nvPr/>
        </p:nvSpPr>
        <p:spPr>
          <a:xfrm rot="454130">
            <a:off x="5110361" y="4174571"/>
            <a:ext cx="16874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entury" panose="02040604050505020304" pitchFamily="18" charset="0"/>
              </a:rPr>
              <a:t>Order makes sense</a:t>
            </a:r>
            <a:endParaRPr lang="ru-MD" b="1" dirty="0">
              <a:latin typeface="Century" panose="02040604050505020304" pitchFamily="18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D6611D8-27E5-2341-87AB-5D510FE81EE8}"/>
              </a:ext>
            </a:extLst>
          </p:cNvPr>
          <p:cNvSpPr txBox="1"/>
          <p:nvPr/>
        </p:nvSpPr>
        <p:spPr>
          <a:xfrm>
            <a:off x="7513125" y="4188064"/>
            <a:ext cx="3315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entury" panose="02040604050505020304" pitchFamily="18" charset="0"/>
              </a:rPr>
              <a:t>Many values with no order</a:t>
            </a:r>
            <a:endParaRPr lang="ru-MD" b="1" dirty="0"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10658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14C5F0B4-838B-6549-B2FF-FD26B41C370A}"/>
              </a:ext>
            </a:extLst>
          </p:cNvPr>
          <p:cNvSpPr txBox="1"/>
          <p:nvPr/>
        </p:nvSpPr>
        <p:spPr>
          <a:xfrm>
            <a:off x="501762" y="521651"/>
            <a:ext cx="260840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latin typeface="Century" panose="02040604050505020304" pitchFamily="18" charset="0"/>
                <a:cs typeface="Courier New" panose="02070309020205020404" pitchFamily="49" charset="0"/>
              </a:rPr>
              <a:t>Modeling</a:t>
            </a:r>
            <a:endParaRPr lang="ru-MD" sz="4400" b="1" dirty="0">
              <a:latin typeface="Century" panose="02040604050505020304" pitchFamily="18" charset="0"/>
              <a:cs typeface="Courier New" panose="02070309020205020404" pitchFamily="49" charset="0"/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9EE2147-FFBD-7540-AD99-86144C105F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528" y="1697083"/>
            <a:ext cx="1203448" cy="1203448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F6F1C635-844D-0D44-B104-F86E7CB155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0067" y="1458607"/>
            <a:ext cx="1357200" cy="1357200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9806B105-5AAD-344C-BCD1-F040EB6947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2841" y="1602256"/>
            <a:ext cx="1313760" cy="131376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AFD7E06-D81A-E543-B6CF-02EC87A1DA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292" y="1655714"/>
            <a:ext cx="1357200" cy="13572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80BE8D0-095E-FA4B-A305-3A653D718719}"/>
              </a:ext>
            </a:extLst>
          </p:cNvPr>
          <p:cNvSpPr txBox="1"/>
          <p:nvPr/>
        </p:nvSpPr>
        <p:spPr>
          <a:xfrm>
            <a:off x="501762" y="3827265"/>
            <a:ext cx="17107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 err="1">
                <a:latin typeface="Century" panose="02040604050505020304" pitchFamily="18" charset="0"/>
              </a:rPr>
              <a:t>LightGBM</a:t>
            </a:r>
            <a:endParaRPr lang="ru-MD" sz="2400" dirty="0">
              <a:latin typeface="Century" panose="020406040505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AAA847-BC53-3B4B-AAA0-752B8E2A1335}"/>
              </a:ext>
            </a:extLst>
          </p:cNvPr>
          <p:cNvSpPr txBox="1"/>
          <p:nvPr/>
        </p:nvSpPr>
        <p:spPr>
          <a:xfrm>
            <a:off x="203598" y="4659275"/>
            <a:ext cx="23679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latin typeface="Century" panose="02040604050505020304" pitchFamily="18" charset="0"/>
              </a:rPr>
              <a:t>Random Forest</a:t>
            </a:r>
            <a:endParaRPr lang="ru-MD" sz="2400" dirty="0">
              <a:latin typeface="Century" panose="020406040505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2008E6A-EE9C-2D4E-9D0F-CEABE314A36D}"/>
              </a:ext>
            </a:extLst>
          </p:cNvPr>
          <p:cNvSpPr txBox="1"/>
          <p:nvPr/>
        </p:nvSpPr>
        <p:spPr>
          <a:xfrm>
            <a:off x="173142" y="5491286"/>
            <a:ext cx="24288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latin typeface="Century" panose="02040604050505020304" pitchFamily="18" charset="0"/>
              </a:rPr>
              <a:t>Isolation Forest</a:t>
            </a:r>
            <a:endParaRPr lang="ru-MD" sz="2400" dirty="0">
              <a:latin typeface="Century" panose="020406040505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0A0A24-19BF-874D-AD17-C3A2547A967D}"/>
              </a:ext>
            </a:extLst>
          </p:cNvPr>
          <p:cNvSpPr txBox="1"/>
          <p:nvPr/>
        </p:nvSpPr>
        <p:spPr>
          <a:xfrm>
            <a:off x="9102570" y="3642599"/>
            <a:ext cx="31118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entury" panose="02040604050505020304" pitchFamily="18" charset="0"/>
              </a:rPr>
              <a:t>One Class – Support Vector Machine</a:t>
            </a:r>
            <a:endParaRPr lang="ru-MD" sz="2400" dirty="0">
              <a:latin typeface="Century" panose="020406040505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1C7254-D2C6-924F-85E2-DE3DC42D8546}"/>
              </a:ext>
            </a:extLst>
          </p:cNvPr>
          <p:cNvSpPr txBox="1"/>
          <p:nvPr/>
        </p:nvSpPr>
        <p:spPr>
          <a:xfrm>
            <a:off x="2722925" y="3642599"/>
            <a:ext cx="31118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entury" panose="02040604050505020304" pitchFamily="18" charset="0"/>
              </a:rPr>
              <a:t>Gaussian Mixture Model</a:t>
            </a:r>
            <a:endParaRPr lang="ru-MD" sz="2400" dirty="0">
              <a:latin typeface="Century" panose="020406040505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B4F718F-2262-9741-8D3E-E6D24953CF50}"/>
              </a:ext>
            </a:extLst>
          </p:cNvPr>
          <p:cNvSpPr txBox="1"/>
          <p:nvPr/>
        </p:nvSpPr>
        <p:spPr>
          <a:xfrm>
            <a:off x="5956435" y="3642599"/>
            <a:ext cx="30244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entury" panose="02040604050505020304" pitchFamily="18" charset="0"/>
              </a:rPr>
              <a:t>Histogram Based Outlier Score</a:t>
            </a:r>
            <a:endParaRPr lang="ru-MD" sz="2400" dirty="0">
              <a:latin typeface="Century" panose="020406040505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3F7468-44BA-D94C-9CF0-DEF1E9B49392}"/>
              </a:ext>
            </a:extLst>
          </p:cNvPr>
          <p:cNvSpPr txBox="1"/>
          <p:nvPr/>
        </p:nvSpPr>
        <p:spPr>
          <a:xfrm>
            <a:off x="9146257" y="4545682"/>
            <a:ext cx="30244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entury" panose="02040604050505020304" pitchFamily="18" charset="0"/>
              </a:rPr>
              <a:t>Local Outlier Factor</a:t>
            </a:r>
            <a:endParaRPr lang="ru-MD" sz="2400" dirty="0">
              <a:latin typeface="Century" panose="020406040505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2D320ED-CF6B-EA47-9131-4DE5145C3558}"/>
              </a:ext>
            </a:extLst>
          </p:cNvPr>
          <p:cNvSpPr txBox="1"/>
          <p:nvPr/>
        </p:nvSpPr>
        <p:spPr>
          <a:xfrm>
            <a:off x="5956434" y="4730347"/>
            <a:ext cx="3024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entury" panose="02040604050505020304" pitchFamily="18" charset="0"/>
              </a:rPr>
              <a:t>DBSCAN</a:t>
            </a:r>
            <a:endParaRPr lang="ru-MD" sz="2400" dirty="0">
              <a:latin typeface="Century" panose="020406040505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7FC7C8-5298-834E-A303-09A5B3CD7C71}"/>
              </a:ext>
            </a:extLst>
          </p:cNvPr>
          <p:cNvSpPr txBox="1"/>
          <p:nvPr/>
        </p:nvSpPr>
        <p:spPr>
          <a:xfrm>
            <a:off x="957126" y="2954665"/>
            <a:ext cx="957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latin typeface="Century" panose="02040604050505020304" pitchFamily="18" charset="0"/>
              </a:rPr>
              <a:t>Trees</a:t>
            </a:r>
            <a:endParaRPr lang="ru-MD" sz="2400" b="1" dirty="0">
              <a:latin typeface="Century" panose="020406040505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13CCFDE-EF04-DA44-A0F2-4C141B5E5680}"/>
              </a:ext>
            </a:extLst>
          </p:cNvPr>
          <p:cNvSpPr txBox="1"/>
          <p:nvPr/>
        </p:nvSpPr>
        <p:spPr>
          <a:xfrm>
            <a:off x="9403758" y="2954665"/>
            <a:ext cx="23519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latin typeface="Century" panose="02040604050505020304" pitchFamily="18" charset="0"/>
              </a:rPr>
              <a:t>Distance-based</a:t>
            </a:r>
            <a:endParaRPr lang="ru-MD" sz="2400" b="1" dirty="0">
              <a:latin typeface="Century" panose="020406040505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EC74FE7-224C-DD42-8ECA-9FDBF6D88C8B}"/>
              </a:ext>
            </a:extLst>
          </p:cNvPr>
          <p:cNvSpPr txBox="1"/>
          <p:nvPr/>
        </p:nvSpPr>
        <p:spPr>
          <a:xfrm>
            <a:off x="6364037" y="2954665"/>
            <a:ext cx="22092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latin typeface="Century" panose="02040604050505020304" pitchFamily="18" charset="0"/>
              </a:rPr>
              <a:t>Density-based</a:t>
            </a:r>
            <a:endParaRPr lang="ru-MD" sz="2400" b="1" dirty="0">
              <a:latin typeface="Century" panose="020406040505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979FA57-A35A-1C4A-B84C-1D8E46AFDB86}"/>
              </a:ext>
            </a:extLst>
          </p:cNvPr>
          <p:cNvSpPr txBox="1"/>
          <p:nvPr/>
        </p:nvSpPr>
        <p:spPr>
          <a:xfrm>
            <a:off x="3343472" y="2954665"/>
            <a:ext cx="19848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latin typeface="Century" panose="02040604050505020304" pitchFamily="18" charset="0"/>
              </a:rPr>
              <a:t>Probabilistic</a:t>
            </a:r>
            <a:endParaRPr lang="ru-MD" sz="2400" b="1" dirty="0"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70430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14C5F0B4-838B-6549-B2FF-FD26B41C370A}"/>
              </a:ext>
            </a:extLst>
          </p:cNvPr>
          <p:cNvSpPr txBox="1"/>
          <p:nvPr/>
        </p:nvSpPr>
        <p:spPr>
          <a:xfrm>
            <a:off x="501762" y="521651"/>
            <a:ext cx="260840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latin typeface="Century" panose="02040604050505020304" pitchFamily="18" charset="0"/>
                <a:cs typeface="Courier New" panose="02070309020205020404" pitchFamily="49" charset="0"/>
              </a:rPr>
              <a:t>Modeling</a:t>
            </a:r>
            <a:endParaRPr lang="ru-MD" sz="4400" b="1" dirty="0">
              <a:latin typeface="Century" panose="02040604050505020304" pitchFamily="18" charset="0"/>
              <a:cs typeface="Courier New" panose="02070309020205020404" pitchFamily="49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DC30DDD-30AC-F741-8583-87A41C5D99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3931" y="1473894"/>
            <a:ext cx="1176235" cy="117623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DEDC28D-E349-0A4E-9D38-4E082E0AA06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6434" b="1"/>
          <a:stretch/>
        </p:blipFill>
        <p:spPr>
          <a:xfrm>
            <a:off x="9176655" y="2012690"/>
            <a:ext cx="1176234" cy="630059"/>
          </a:xfrm>
          <a:prstGeom prst="rect">
            <a:avLst/>
          </a:prstGeom>
        </p:spPr>
      </p:pic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E1A18798-FF9B-9B4F-B7FA-1E6E6BCF73EF}"/>
              </a:ext>
            </a:extLst>
          </p:cNvPr>
          <p:cNvGrpSpPr/>
          <p:nvPr/>
        </p:nvGrpSpPr>
        <p:grpSpPr>
          <a:xfrm>
            <a:off x="5507881" y="1679916"/>
            <a:ext cx="1176235" cy="962833"/>
            <a:chOff x="6276722" y="1816925"/>
            <a:chExt cx="1658007" cy="1357199"/>
          </a:xfrm>
        </p:grpSpPr>
        <p:pic>
          <p:nvPicPr>
            <p:cNvPr id="4" name="Рисунок 3">
              <a:extLst>
                <a:ext uri="{FF2B5EF4-FFF2-40B4-BE49-F238E27FC236}">
                  <a16:creationId xmlns:a16="http://schemas.microsoft.com/office/drawing/2014/main" id="{35E782CA-2F15-E945-AA6E-1085B9C09B2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18143"/>
            <a:stretch/>
          </p:blipFill>
          <p:spPr>
            <a:xfrm>
              <a:off x="6276722" y="1816925"/>
              <a:ext cx="1658007" cy="1357199"/>
            </a:xfrm>
            <a:prstGeom prst="rect">
              <a:avLst/>
            </a:prstGeom>
          </p:spPr>
        </p:pic>
        <p:cxnSp>
          <p:nvCxnSpPr>
            <p:cNvPr id="6" name="Прямая соединительная линия 5">
              <a:extLst>
                <a:ext uri="{FF2B5EF4-FFF2-40B4-BE49-F238E27FC236}">
                  <a16:creationId xmlns:a16="http://schemas.microsoft.com/office/drawing/2014/main" id="{AC417297-C61E-2743-BD40-8EA84FD12075}"/>
                </a:ext>
              </a:extLst>
            </p:cNvPr>
            <p:cNvCxnSpPr>
              <a:cxnSpLocks/>
            </p:cNvCxnSpPr>
            <p:nvPr/>
          </p:nvCxnSpPr>
          <p:spPr>
            <a:xfrm>
              <a:off x="6530547" y="1816925"/>
              <a:ext cx="1148316" cy="0"/>
            </a:xfrm>
            <a:prstGeom prst="line">
              <a:avLst/>
            </a:prstGeom>
            <a:ln w="285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6B04CCEC-E17C-D941-A7A2-3CBC8F728C9A}"/>
              </a:ext>
            </a:extLst>
          </p:cNvPr>
          <p:cNvSpPr txBox="1"/>
          <p:nvPr/>
        </p:nvSpPr>
        <p:spPr>
          <a:xfrm>
            <a:off x="1658472" y="2747125"/>
            <a:ext cx="17668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latin typeface="Century" panose="02040604050505020304" pitchFamily="18" charset="0"/>
              </a:rPr>
              <a:t>Supervised</a:t>
            </a:r>
            <a:endParaRPr lang="ru-MD" sz="2400" b="1" dirty="0">
              <a:latin typeface="Century" panose="020406040505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1DF31F0-9542-834A-933B-13280EF9F0C9}"/>
              </a:ext>
            </a:extLst>
          </p:cNvPr>
          <p:cNvSpPr txBox="1"/>
          <p:nvPr/>
        </p:nvSpPr>
        <p:spPr>
          <a:xfrm>
            <a:off x="4827138" y="2754833"/>
            <a:ext cx="25362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latin typeface="Century" panose="02040604050505020304" pitchFamily="18" charset="0"/>
              </a:rPr>
              <a:t>Semi-supervised</a:t>
            </a:r>
            <a:endParaRPr lang="ru-MD" sz="2400" b="1" dirty="0">
              <a:latin typeface="Century" panose="020406040505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2249BE8-B55F-7C4E-B3BF-0B8606376A79}"/>
              </a:ext>
            </a:extLst>
          </p:cNvPr>
          <p:cNvSpPr txBox="1"/>
          <p:nvPr/>
        </p:nvSpPr>
        <p:spPr>
          <a:xfrm>
            <a:off x="8698722" y="2747125"/>
            <a:ext cx="21531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latin typeface="Century" panose="02040604050505020304" pitchFamily="18" charset="0"/>
              </a:rPr>
              <a:t>Unsupervised</a:t>
            </a:r>
            <a:endParaRPr lang="ru-MD" sz="2400" b="1" dirty="0">
              <a:latin typeface="Century" panose="020406040505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1856A1-A58E-224B-8980-91EB7BBD4776}"/>
              </a:ext>
            </a:extLst>
          </p:cNvPr>
          <p:cNvSpPr txBox="1"/>
          <p:nvPr/>
        </p:nvSpPr>
        <p:spPr>
          <a:xfrm>
            <a:off x="1658472" y="3428054"/>
            <a:ext cx="17107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 err="1">
                <a:latin typeface="Century" panose="02040604050505020304" pitchFamily="18" charset="0"/>
              </a:rPr>
              <a:t>LightGBM</a:t>
            </a:r>
            <a:endParaRPr lang="ru-MD" sz="2400" dirty="0">
              <a:latin typeface="Century" panose="020406040505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975AC0F-CB04-E340-A54D-E664C035F1C1}"/>
              </a:ext>
            </a:extLst>
          </p:cNvPr>
          <p:cNvSpPr txBox="1"/>
          <p:nvPr/>
        </p:nvSpPr>
        <p:spPr>
          <a:xfrm>
            <a:off x="1357910" y="4196081"/>
            <a:ext cx="23679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latin typeface="Century" panose="02040604050505020304" pitchFamily="18" charset="0"/>
              </a:rPr>
              <a:t>Random Forest</a:t>
            </a:r>
            <a:endParaRPr lang="ru-MD" sz="2400" dirty="0">
              <a:latin typeface="Century" panose="020406040505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C2CF494-AE4B-EC49-A230-D5B83114B9AB}"/>
              </a:ext>
            </a:extLst>
          </p:cNvPr>
          <p:cNvSpPr txBox="1"/>
          <p:nvPr/>
        </p:nvSpPr>
        <p:spPr>
          <a:xfrm>
            <a:off x="4872628" y="3398513"/>
            <a:ext cx="24288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latin typeface="Century" panose="02040604050505020304" pitchFamily="18" charset="0"/>
              </a:rPr>
              <a:t>Isolation Forest</a:t>
            </a:r>
            <a:endParaRPr lang="ru-MD" sz="2400" dirty="0">
              <a:latin typeface="Century" panose="020406040505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157A69E-A7ED-CA42-85A6-86CBB27EF2BD}"/>
              </a:ext>
            </a:extLst>
          </p:cNvPr>
          <p:cNvSpPr txBox="1"/>
          <p:nvPr/>
        </p:nvSpPr>
        <p:spPr>
          <a:xfrm>
            <a:off x="4407272" y="4042193"/>
            <a:ext cx="33760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entury" panose="02040604050505020304" pitchFamily="18" charset="0"/>
              </a:rPr>
              <a:t>One Class – Support Vector Machine</a:t>
            </a:r>
            <a:endParaRPr lang="ru-MD" sz="2400" dirty="0">
              <a:latin typeface="Century" panose="020406040505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75B3795-2592-E64A-B53C-FD153D2C54A1}"/>
              </a:ext>
            </a:extLst>
          </p:cNvPr>
          <p:cNvSpPr txBox="1"/>
          <p:nvPr/>
        </p:nvSpPr>
        <p:spPr>
          <a:xfrm>
            <a:off x="7934133" y="3429000"/>
            <a:ext cx="37128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latin typeface="Century" panose="02040604050505020304" pitchFamily="18" charset="0"/>
              </a:rPr>
              <a:t>Gaussian Mixture Model</a:t>
            </a:r>
            <a:endParaRPr lang="ru-MD" sz="2400" dirty="0">
              <a:latin typeface="Century" panose="020406040505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63FE9BF-82C7-D946-881A-BAA3A009B4B1}"/>
              </a:ext>
            </a:extLst>
          </p:cNvPr>
          <p:cNvSpPr txBox="1"/>
          <p:nvPr/>
        </p:nvSpPr>
        <p:spPr>
          <a:xfrm>
            <a:off x="8286553" y="4042193"/>
            <a:ext cx="30244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entury" panose="02040604050505020304" pitchFamily="18" charset="0"/>
              </a:rPr>
              <a:t>Histogram Based Outlier Score</a:t>
            </a:r>
            <a:endParaRPr lang="ru-MD" sz="2400" dirty="0">
              <a:latin typeface="Century" panose="020406040505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8D3DBB6-BF85-EE4C-ACD9-FA7DCBE6D89F}"/>
              </a:ext>
            </a:extLst>
          </p:cNvPr>
          <p:cNvSpPr txBox="1"/>
          <p:nvPr/>
        </p:nvSpPr>
        <p:spPr>
          <a:xfrm>
            <a:off x="8278340" y="5024718"/>
            <a:ext cx="30244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entury" panose="02040604050505020304" pitchFamily="18" charset="0"/>
              </a:rPr>
              <a:t>Local Outlier Factor</a:t>
            </a:r>
            <a:endParaRPr lang="ru-MD" sz="2400" dirty="0">
              <a:latin typeface="Century" panose="02040604050505020304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99FD9F5-1E41-DF47-99D5-5E0287FA2A92}"/>
              </a:ext>
            </a:extLst>
          </p:cNvPr>
          <p:cNvSpPr txBox="1"/>
          <p:nvPr/>
        </p:nvSpPr>
        <p:spPr>
          <a:xfrm>
            <a:off x="8286553" y="6007243"/>
            <a:ext cx="3024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entury" panose="02040604050505020304" pitchFamily="18" charset="0"/>
              </a:rPr>
              <a:t>DBSCAN</a:t>
            </a:r>
            <a:endParaRPr lang="ru-MD" sz="2400" dirty="0"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31366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E46C50BC-2545-A04C-850C-5869E50D14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2962" y="1285286"/>
            <a:ext cx="8773051" cy="5234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AAD2A00F-D6E9-CF4E-9C27-7263D31AC9BF}"/>
              </a:ext>
            </a:extLst>
          </p:cNvPr>
          <p:cNvSpPr txBox="1"/>
          <p:nvPr/>
        </p:nvSpPr>
        <p:spPr>
          <a:xfrm>
            <a:off x="501762" y="521651"/>
            <a:ext cx="307007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latin typeface="Century" panose="02040604050505020304" pitchFamily="18" charset="0"/>
                <a:cs typeface="Courier New" panose="02070309020205020404" pitchFamily="49" charset="0"/>
              </a:rPr>
              <a:t>Evaluation</a:t>
            </a:r>
            <a:endParaRPr lang="ru-MD" sz="4400" b="1" dirty="0">
              <a:latin typeface="Century" panose="02040604050505020304" pitchFamily="18" charset="0"/>
              <a:cs typeface="Courier New" panose="02070309020205020404" pitchFamily="49" charset="0"/>
            </a:endParaRPr>
          </a:p>
        </p:txBody>
      </p:sp>
      <p:pic>
        <p:nvPicPr>
          <p:cNvPr id="6" name="Picture 2" descr="Curved Arrow Black PNG Transparent Background, Free Download #12453 -  FreeIconsPNG">
            <a:extLst>
              <a:ext uri="{FF2B5EF4-FFF2-40B4-BE49-F238E27FC236}">
                <a16:creationId xmlns:a16="http://schemas.microsoft.com/office/drawing/2014/main" id="{8AA721D3-0042-7B48-88BF-65D6637A30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058"/>
          <a:stretch/>
        </p:blipFill>
        <p:spPr bwMode="auto">
          <a:xfrm rot="20269349">
            <a:off x="1486493" y="5666764"/>
            <a:ext cx="1100607" cy="513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ECE3ACF-30F7-B545-B47C-DB553E514EF3}"/>
              </a:ext>
            </a:extLst>
          </p:cNvPr>
          <p:cNvSpPr txBox="1"/>
          <p:nvPr/>
        </p:nvSpPr>
        <p:spPr>
          <a:xfrm rot="20247337">
            <a:off x="49687" y="5315292"/>
            <a:ext cx="19423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MD"/>
            </a:defPPr>
            <a:lvl1pPr algn="ctr">
              <a:defRPr sz="1600">
                <a:latin typeface="Century" panose="02040604050505020304" pitchFamily="18" charset="0"/>
              </a:defRPr>
            </a:lvl1pPr>
          </a:lstStyle>
          <a:p>
            <a:r>
              <a:rPr lang="en-US" sz="1800" dirty="0"/>
              <a:t>Chosen for Implementation</a:t>
            </a:r>
            <a:endParaRPr lang="ru-MD" sz="1800" dirty="0"/>
          </a:p>
        </p:txBody>
      </p:sp>
    </p:spTree>
    <p:extLst>
      <p:ext uri="{BB962C8B-B14F-4D97-AF65-F5344CB8AC3E}">
        <p14:creationId xmlns:p14="http://schemas.microsoft.com/office/powerpoint/2010/main" val="34121019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>
            <a:extLst>
              <a:ext uri="{FF2B5EF4-FFF2-40B4-BE49-F238E27FC236}">
                <a16:creationId xmlns:a16="http://schemas.microsoft.com/office/drawing/2014/main" id="{AAD2A00F-D6E9-CF4E-9C27-7263D31AC9BF}"/>
              </a:ext>
            </a:extLst>
          </p:cNvPr>
          <p:cNvSpPr txBox="1"/>
          <p:nvPr/>
        </p:nvSpPr>
        <p:spPr>
          <a:xfrm>
            <a:off x="501762" y="521651"/>
            <a:ext cx="307007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latin typeface="Century" panose="02040604050505020304" pitchFamily="18" charset="0"/>
                <a:cs typeface="Courier New" panose="02070309020205020404" pitchFamily="49" charset="0"/>
              </a:rPr>
              <a:t>Evaluation</a:t>
            </a:r>
            <a:endParaRPr lang="ru-MD" sz="4400" b="1" dirty="0">
              <a:latin typeface="Century" panose="02040604050505020304" pitchFamily="18" charset="0"/>
              <a:cs typeface="Courier New" panose="02070309020205020404" pitchFamily="49" charset="0"/>
            </a:endParaRP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05376E5B-8681-9E4D-B652-90BECA91BC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25" b="29905"/>
          <a:stretch/>
        </p:blipFill>
        <p:spPr bwMode="auto">
          <a:xfrm>
            <a:off x="5819321" y="168147"/>
            <a:ext cx="6103235" cy="6521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702BA12-584B-E546-BA77-140627437D64}"/>
              </a:ext>
            </a:extLst>
          </p:cNvPr>
          <p:cNvSpPr txBox="1"/>
          <p:nvPr/>
        </p:nvSpPr>
        <p:spPr>
          <a:xfrm>
            <a:off x="501762" y="1291092"/>
            <a:ext cx="48109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entury" panose="02040604050505020304" pitchFamily="18" charset="0"/>
                <a:cs typeface="Courier New" panose="02070309020205020404" pitchFamily="49" charset="0"/>
              </a:rPr>
              <a:t>with feature selection</a:t>
            </a:r>
            <a:endParaRPr lang="ru-MD" sz="3600" b="1" dirty="0">
              <a:latin typeface="Century" panose="02040604050505020304" pitchFamily="18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72105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F051433A-5BD1-E446-9B9B-553637A077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9400" y="1291092"/>
            <a:ext cx="8700175" cy="5190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AAD2A00F-D6E9-CF4E-9C27-7263D31AC9BF}"/>
              </a:ext>
            </a:extLst>
          </p:cNvPr>
          <p:cNvSpPr txBox="1"/>
          <p:nvPr/>
        </p:nvSpPr>
        <p:spPr>
          <a:xfrm>
            <a:off x="501762" y="521651"/>
            <a:ext cx="307007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latin typeface="Century" panose="02040604050505020304" pitchFamily="18" charset="0"/>
                <a:cs typeface="Courier New" panose="02070309020205020404" pitchFamily="49" charset="0"/>
              </a:rPr>
              <a:t>Evaluation</a:t>
            </a:r>
            <a:endParaRPr lang="ru-MD" sz="4400" b="1" dirty="0">
              <a:latin typeface="Century" panose="02040604050505020304" pitchFamily="18" charset="0"/>
              <a:cs typeface="Courier New" panose="02070309020205020404" pitchFamily="49" charset="0"/>
            </a:endParaRPr>
          </a:p>
        </p:txBody>
      </p:sp>
      <p:pic>
        <p:nvPicPr>
          <p:cNvPr id="6" name="Picture 2" descr="Curved Arrow Black PNG Transparent Background, Free Download #12453 -  FreeIconsPNG">
            <a:extLst>
              <a:ext uri="{FF2B5EF4-FFF2-40B4-BE49-F238E27FC236}">
                <a16:creationId xmlns:a16="http://schemas.microsoft.com/office/drawing/2014/main" id="{8AA721D3-0042-7B48-88BF-65D6637A30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058"/>
          <a:stretch/>
        </p:blipFill>
        <p:spPr bwMode="auto">
          <a:xfrm rot="20269349">
            <a:off x="1486493" y="5666764"/>
            <a:ext cx="1100607" cy="513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ECE3ACF-30F7-B545-B47C-DB553E514EF3}"/>
              </a:ext>
            </a:extLst>
          </p:cNvPr>
          <p:cNvSpPr txBox="1"/>
          <p:nvPr/>
        </p:nvSpPr>
        <p:spPr>
          <a:xfrm rot="20247337">
            <a:off x="49687" y="5315292"/>
            <a:ext cx="19423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MD"/>
            </a:defPPr>
            <a:lvl1pPr algn="ctr">
              <a:defRPr sz="1600">
                <a:latin typeface="Century" panose="02040604050505020304" pitchFamily="18" charset="0"/>
              </a:defRPr>
            </a:lvl1pPr>
          </a:lstStyle>
          <a:p>
            <a:r>
              <a:rPr lang="en-US" sz="1800" dirty="0"/>
              <a:t>Chosen for Implementation</a:t>
            </a:r>
            <a:endParaRPr lang="ru-MD" sz="1800" dirty="0"/>
          </a:p>
        </p:txBody>
      </p:sp>
    </p:spTree>
    <p:extLst>
      <p:ext uri="{BB962C8B-B14F-4D97-AF65-F5344CB8AC3E}">
        <p14:creationId xmlns:p14="http://schemas.microsoft.com/office/powerpoint/2010/main" val="25302273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>
            <a:extLst>
              <a:ext uri="{FF2B5EF4-FFF2-40B4-BE49-F238E27FC236}">
                <a16:creationId xmlns:a16="http://schemas.microsoft.com/office/drawing/2014/main" id="{AAD2A00F-D6E9-CF4E-9C27-7263D31AC9BF}"/>
              </a:ext>
            </a:extLst>
          </p:cNvPr>
          <p:cNvSpPr txBox="1"/>
          <p:nvPr/>
        </p:nvSpPr>
        <p:spPr>
          <a:xfrm>
            <a:off x="501762" y="521651"/>
            <a:ext cx="307007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latin typeface="Century" panose="02040604050505020304" pitchFamily="18" charset="0"/>
                <a:cs typeface="Courier New" panose="02070309020205020404" pitchFamily="49" charset="0"/>
              </a:rPr>
              <a:t>Evaluation</a:t>
            </a:r>
            <a:endParaRPr lang="ru-MD" sz="4400" b="1" dirty="0">
              <a:latin typeface="Century" panose="02040604050505020304" pitchFamily="18" charset="0"/>
              <a:cs typeface="Courier New" panose="02070309020205020404" pitchFamily="49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BBBE732-961D-B849-BCC6-86B65C9435C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104" t="4520" r="10057" b="35102"/>
          <a:stretch/>
        </p:blipFill>
        <p:spPr>
          <a:xfrm>
            <a:off x="5082021" y="1686364"/>
            <a:ext cx="3538148" cy="325803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1834C8D-3C14-5141-8B3E-28BE8F4D8A8A}"/>
              </a:ext>
            </a:extLst>
          </p:cNvPr>
          <p:cNvSpPr txBox="1"/>
          <p:nvPr/>
        </p:nvSpPr>
        <p:spPr>
          <a:xfrm>
            <a:off x="2512186" y="1798426"/>
            <a:ext cx="256833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MD"/>
            </a:defPPr>
            <a:lvl1pPr algn="ctr">
              <a:defRPr sz="2400">
                <a:latin typeface="Century" panose="02040604050505020304" pitchFamily="18" charset="0"/>
              </a:defRPr>
            </a:lvl1pPr>
          </a:lstStyle>
          <a:p>
            <a:pPr algn="r"/>
            <a:r>
              <a:rPr lang="en-US" sz="1100" dirty="0"/>
              <a:t>ECOM_NIGHT_NO3DS_HIGHAMT</a:t>
            </a:r>
            <a:endParaRPr lang="ru-MD" sz="11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2A2F2D-1706-554B-9525-F7DDEB8A8962}"/>
              </a:ext>
            </a:extLst>
          </p:cNvPr>
          <p:cNvSpPr txBox="1"/>
          <p:nvPr/>
        </p:nvSpPr>
        <p:spPr>
          <a:xfrm rot="19133461">
            <a:off x="3140571" y="5672013"/>
            <a:ext cx="256833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MD"/>
            </a:defPPr>
            <a:lvl1pPr algn="ctr">
              <a:defRPr sz="2400">
                <a:latin typeface="Century" panose="02040604050505020304" pitchFamily="18" charset="0"/>
              </a:defRPr>
            </a:lvl1pPr>
          </a:lstStyle>
          <a:p>
            <a:r>
              <a:rPr lang="en-US" sz="1100" dirty="0"/>
              <a:t>ECOM_NIGHT_NO3DS_HIGHAMT</a:t>
            </a:r>
            <a:endParaRPr lang="ru-MD" sz="11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90848A-F8E1-7649-BED7-6DBB8CBFA335}"/>
              </a:ext>
            </a:extLst>
          </p:cNvPr>
          <p:cNvSpPr txBox="1"/>
          <p:nvPr/>
        </p:nvSpPr>
        <p:spPr>
          <a:xfrm>
            <a:off x="3297658" y="2269253"/>
            <a:ext cx="17828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MD"/>
            </a:defPPr>
            <a:lvl1pPr algn="ctr">
              <a:defRPr sz="2400">
                <a:latin typeface="Century" panose="02040604050505020304" pitchFamily="18" charset="0"/>
              </a:defRPr>
            </a:lvl1pPr>
          </a:lstStyle>
          <a:p>
            <a:pPr algn="r"/>
            <a:r>
              <a:rPr lang="en-US" sz="1100" dirty="0"/>
              <a:t>IMPOSSIBLE_TRAVEL</a:t>
            </a:r>
            <a:endParaRPr lang="ru-MD" sz="11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F9B36A-C661-9D49-B430-5A50A2E5389B}"/>
              </a:ext>
            </a:extLst>
          </p:cNvPr>
          <p:cNvSpPr txBox="1"/>
          <p:nvPr/>
        </p:nvSpPr>
        <p:spPr>
          <a:xfrm rot="19133206">
            <a:off x="4375757" y="5438899"/>
            <a:ext cx="17828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MD"/>
            </a:defPPr>
            <a:lvl1pPr algn="ctr">
              <a:defRPr sz="2400">
                <a:latin typeface="Century" panose="02040604050505020304" pitchFamily="18" charset="0"/>
              </a:defRPr>
            </a:lvl1pPr>
          </a:lstStyle>
          <a:p>
            <a:r>
              <a:rPr lang="en-US" sz="1100" dirty="0"/>
              <a:t>IMPOSSIBLE_TRAVEL</a:t>
            </a:r>
            <a:endParaRPr lang="ru-MD" sz="11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2AD3D3D-640C-074F-8C60-24AD2274EEEF}"/>
              </a:ext>
            </a:extLst>
          </p:cNvPr>
          <p:cNvSpPr txBox="1"/>
          <p:nvPr/>
        </p:nvSpPr>
        <p:spPr>
          <a:xfrm>
            <a:off x="3109254" y="2740080"/>
            <a:ext cx="197201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MD"/>
            </a:defPPr>
            <a:lvl1pPr algn="ctr">
              <a:defRPr sz="2400">
                <a:latin typeface="Century" panose="02040604050505020304" pitchFamily="18" charset="0"/>
              </a:defRPr>
            </a:lvl1pPr>
          </a:lstStyle>
          <a:p>
            <a:pPr algn="r"/>
            <a:r>
              <a:rPr lang="en-US" sz="1100" dirty="0"/>
              <a:t>NEW_DEVICE_IP_CROSS</a:t>
            </a:r>
            <a:endParaRPr lang="ru-MD" sz="11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7F02D38-185D-DD4E-9199-F14ABB973FC8}"/>
              </a:ext>
            </a:extLst>
          </p:cNvPr>
          <p:cNvSpPr txBox="1"/>
          <p:nvPr/>
        </p:nvSpPr>
        <p:spPr>
          <a:xfrm rot="19057228">
            <a:off x="4732266" y="5527995"/>
            <a:ext cx="197201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MD"/>
            </a:defPPr>
            <a:lvl1pPr algn="ctr">
              <a:defRPr sz="2400">
                <a:latin typeface="Century" panose="02040604050505020304" pitchFamily="18" charset="0"/>
              </a:defRPr>
            </a:lvl1pPr>
          </a:lstStyle>
          <a:p>
            <a:pPr algn="r"/>
            <a:r>
              <a:rPr lang="en-US" sz="1100" dirty="0"/>
              <a:t>NEW_DEVICE_IP_CROSS</a:t>
            </a:r>
            <a:endParaRPr lang="ru-MD" sz="11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C88F0B-6CF4-294A-B5AE-4B13F6B00592}"/>
              </a:ext>
            </a:extLst>
          </p:cNvPr>
          <p:cNvSpPr txBox="1"/>
          <p:nvPr/>
        </p:nvSpPr>
        <p:spPr>
          <a:xfrm>
            <a:off x="4238620" y="3210907"/>
            <a:ext cx="84189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MD"/>
            </a:defPPr>
            <a:lvl1pPr algn="ctr">
              <a:defRPr sz="2400">
                <a:latin typeface="Century" panose="02040604050505020304" pitchFamily="18" charset="0"/>
              </a:defRPr>
            </a:lvl1pPr>
          </a:lstStyle>
          <a:p>
            <a:pPr algn="r"/>
            <a:r>
              <a:rPr lang="en-US" sz="1100" dirty="0"/>
              <a:t>NORMAL</a:t>
            </a:r>
            <a:endParaRPr lang="ru-MD" sz="11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4E59DFC-A66F-7841-B790-DB0E0C52C198}"/>
              </a:ext>
            </a:extLst>
          </p:cNvPr>
          <p:cNvSpPr txBox="1"/>
          <p:nvPr/>
        </p:nvSpPr>
        <p:spPr>
          <a:xfrm rot="19018397">
            <a:off x="6215513" y="5145141"/>
            <a:ext cx="84189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MD"/>
            </a:defPPr>
            <a:lvl1pPr algn="ctr">
              <a:defRPr sz="2400">
                <a:latin typeface="Century" panose="02040604050505020304" pitchFamily="18" charset="0"/>
              </a:defRPr>
            </a:lvl1pPr>
          </a:lstStyle>
          <a:p>
            <a:pPr algn="r"/>
            <a:r>
              <a:rPr lang="en-US" sz="1100" dirty="0"/>
              <a:t>NORMAL</a:t>
            </a:r>
            <a:endParaRPr lang="ru-MD" sz="11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82C09A9-5C40-E946-91FD-46F94AE2FEE0}"/>
              </a:ext>
            </a:extLst>
          </p:cNvPr>
          <p:cNvSpPr txBox="1"/>
          <p:nvPr/>
        </p:nvSpPr>
        <p:spPr>
          <a:xfrm>
            <a:off x="3084459" y="3681734"/>
            <a:ext cx="19960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MD"/>
            </a:defPPr>
            <a:lvl1pPr algn="ctr">
              <a:defRPr sz="2400">
                <a:latin typeface="Century" panose="02040604050505020304" pitchFamily="18" charset="0"/>
              </a:defRPr>
            </a:lvl1pPr>
          </a:lstStyle>
          <a:p>
            <a:pPr algn="r"/>
            <a:r>
              <a:rPr lang="en-US" sz="1100" dirty="0"/>
              <a:t>POS_MAGSTRIPE_NIGHT</a:t>
            </a:r>
            <a:endParaRPr lang="ru-MD" sz="11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3D3470D-FB0F-1349-91DE-AE085777C566}"/>
              </a:ext>
            </a:extLst>
          </p:cNvPr>
          <p:cNvSpPr txBox="1"/>
          <p:nvPr/>
        </p:nvSpPr>
        <p:spPr>
          <a:xfrm rot="19057936">
            <a:off x="5682335" y="5563062"/>
            <a:ext cx="19960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MD"/>
            </a:defPPr>
            <a:lvl1pPr algn="ctr">
              <a:defRPr sz="2400">
                <a:latin typeface="Century" panose="02040604050505020304" pitchFamily="18" charset="0"/>
              </a:defRPr>
            </a:lvl1pPr>
          </a:lstStyle>
          <a:p>
            <a:pPr algn="r"/>
            <a:r>
              <a:rPr lang="en-US" sz="1100" dirty="0"/>
              <a:t>POS_MAGSTRIPE_NIGHT</a:t>
            </a:r>
            <a:endParaRPr lang="ru-MD" sz="11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5FC38BD-1632-5640-8D46-61C564C59936}"/>
              </a:ext>
            </a:extLst>
          </p:cNvPr>
          <p:cNvSpPr txBox="1"/>
          <p:nvPr/>
        </p:nvSpPr>
        <p:spPr>
          <a:xfrm>
            <a:off x="3300864" y="4152561"/>
            <a:ext cx="177965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MD"/>
            </a:defPPr>
            <a:lvl1pPr algn="ctr">
              <a:defRPr sz="2400">
                <a:latin typeface="Century" panose="02040604050505020304" pitchFamily="18" charset="0"/>
              </a:defRPr>
            </a:lvl1pPr>
          </a:lstStyle>
          <a:p>
            <a:pPr algn="r"/>
            <a:r>
              <a:rPr lang="en-US" sz="1100" dirty="0"/>
              <a:t>RARE_COUNTRY_CCY</a:t>
            </a:r>
            <a:endParaRPr lang="ru-MD" sz="11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D4C73B4-2356-194C-B715-923B78C385C7}"/>
              </a:ext>
            </a:extLst>
          </p:cNvPr>
          <p:cNvSpPr txBox="1"/>
          <p:nvPr/>
        </p:nvSpPr>
        <p:spPr>
          <a:xfrm rot="19023719">
            <a:off x="6398350" y="5527693"/>
            <a:ext cx="177965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MD"/>
            </a:defPPr>
            <a:lvl1pPr algn="ctr">
              <a:defRPr sz="2400">
                <a:latin typeface="Century" panose="02040604050505020304" pitchFamily="18" charset="0"/>
              </a:defRPr>
            </a:lvl1pPr>
          </a:lstStyle>
          <a:p>
            <a:pPr algn="r"/>
            <a:r>
              <a:rPr lang="en-US" sz="1100" dirty="0"/>
              <a:t>RARE_COUNTRY_CCY</a:t>
            </a:r>
            <a:endParaRPr lang="ru-MD" sz="11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B57F5A4-678B-1040-9763-64CE15C2DEC7}"/>
              </a:ext>
            </a:extLst>
          </p:cNvPr>
          <p:cNvSpPr txBox="1"/>
          <p:nvPr/>
        </p:nvSpPr>
        <p:spPr>
          <a:xfrm>
            <a:off x="3570450" y="4623385"/>
            <a:ext cx="152157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MD"/>
            </a:defPPr>
            <a:lvl1pPr algn="ctr">
              <a:defRPr sz="2400">
                <a:latin typeface="Century" panose="02040604050505020304" pitchFamily="18" charset="0"/>
              </a:defRPr>
            </a:lvl1pPr>
          </a:lstStyle>
          <a:p>
            <a:pPr algn="r"/>
            <a:r>
              <a:rPr lang="en-US" sz="1100" dirty="0"/>
              <a:t>VELOCITY_BURST</a:t>
            </a:r>
            <a:endParaRPr lang="ru-MD" sz="11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1B97486-0E57-6A43-A56F-5C4CC4CADF68}"/>
              </a:ext>
            </a:extLst>
          </p:cNvPr>
          <p:cNvSpPr txBox="1"/>
          <p:nvPr/>
        </p:nvSpPr>
        <p:spPr>
          <a:xfrm rot="19078810">
            <a:off x="7206627" y="5438899"/>
            <a:ext cx="152157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MD"/>
            </a:defPPr>
            <a:lvl1pPr algn="ctr">
              <a:defRPr sz="2400">
                <a:latin typeface="Century" panose="02040604050505020304" pitchFamily="18" charset="0"/>
              </a:defRPr>
            </a:lvl1pPr>
          </a:lstStyle>
          <a:p>
            <a:pPr algn="r"/>
            <a:r>
              <a:rPr lang="en-US" sz="1100" dirty="0"/>
              <a:t>VELOCITY_BURST</a:t>
            </a:r>
            <a:endParaRPr lang="ru-MD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72DDE57-9F43-7549-889A-D38BBB1AEC67}"/>
              </a:ext>
            </a:extLst>
          </p:cNvPr>
          <p:cNvSpPr txBox="1"/>
          <p:nvPr/>
        </p:nvSpPr>
        <p:spPr>
          <a:xfrm>
            <a:off x="6288937" y="6490167"/>
            <a:ext cx="105990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MD"/>
            </a:defPPr>
            <a:lvl1pPr algn="ctr">
              <a:defRPr sz="2400">
                <a:latin typeface="Century" panose="02040604050505020304" pitchFamily="18" charset="0"/>
              </a:defRPr>
            </a:lvl1pPr>
          </a:lstStyle>
          <a:p>
            <a:r>
              <a:rPr lang="en-US" sz="1100" b="1" dirty="0"/>
              <a:t>PREDICTED</a:t>
            </a:r>
            <a:endParaRPr lang="ru-MD" sz="11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1BF7899-0F23-C749-9615-751612BCFD3D}"/>
              </a:ext>
            </a:extLst>
          </p:cNvPr>
          <p:cNvSpPr txBox="1"/>
          <p:nvPr/>
        </p:nvSpPr>
        <p:spPr>
          <a:xfrm rot="16200000">
            <a:off x="1922741" y="3278703"/>
            <a:ext cx="5998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MD"/>
            </a:defPPr>
            <a:lvl1pPr algn="ctr">
              <a:defRPr sz="2400">
                <a:latin typeface="Century" panose="02040604050505020304" pitchFamily="18" charset="0"/>
              </a:defRPr>
            </a:lvl1pPr>
          </a:lstStyle>
          <a:p>
            <a:r>
              <a:rPr lang="en-US" sz="1100" b="1" dirty="0"/>
              <a:t>TRUE</a:t>
            </a:r>
            <a:endParaRPr lang="ru-MD" sz="11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670C11C-43F6-0149-8A9A-6A23A62E3032}"/>
              </a:ext>
            </a:extLst>
          </p:cNvPr>
          <p:cNvSpPr txBox="1"/>
          <p:nvPr/>
        </p:nvSpPr>
        <p:spPr>
          <a:xfrm>
            <a:off x="5186344" y="1291092"/>
            <a:ext cx="33295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MD"/>
            </a:defPPr>
            <a:lvl1pPr algn="ctr">
              <a:defRPr sz="2400">
                <a:latin typeface="Century" panose="02040604050505020304" pitchFamily="18" charset="0"/>
              </a:defRPr>
            </a:lvl1pPr>
          </a:lstStyle>
          <a:p>
            <a:r>
              <a:rPr lang="en-US" sz="1400" b="1" dirty="0"/>
              <a:t>CONFUSION MATRIX - LIGHTGBM</a:t>
            </a:r>
            <a:endParaRPr lang="ru-MD" sz="1400" b="1" dirty="0"/>
          </a:p>
        </p:txBody>
      </p:sp>
    </p:spTree>
    <p:extLst>
      <p:ext uri="{BB962C8B-B14F-4D97-AF65-F5344CB8AC3E}">
        <p14:creationId xmlns:p14="http://schemas.microsoft.com/office/powerpoint/2010/main" val="29174479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>
            <a:extLst>
              <a:ext uri="{FF2B5EF4-FFF2-40B4-BE49-F238E27FC236}">
                <a16:creationId xmlns:a16="http://schemas.microsoft.com/office/drawing/2014/main" id="{AAD2A00F-D6E9-CF4E-9C27-7263D31AC9BF}"/>
              </a:ext>
            </a:extLst>
          </p:cNvPr>
          <p:cNvSpPr txBox="1"/>
          <p:nvPr/>
        </p:nvSpPr>
        <p:spPr>
          <a:xfrm>
            <a:off x="501762" y="521651"/>
            <a:ext cx="339387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latin typeface="Century" panose="02040604050505020304" pitchFamily="18" charset="0"/>
                <a:cs typeface="Courier New" panose="02070309020205020404" pitchFamily="49" charset="0"/>
              </a:rPr>
              <a:t>Explanation</a:t>
            </a:r>
            <a:endParaRPr lang="ru-MD" sz="4400" b="1" dirty="0">
              <a:latin typeface="Century" panose="02040604050505020304" pitchFamily="18" charset="0"/>
              <a:cs typeface="Courier New" panose="02070309020205020404" pitchFamily="49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6A1FA74-2BFE-F84F-BD90-4DAEC82B3C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2282" y="260825"/>
            <a:ext cx="5319293" cy="6336349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8ED6EF72-0725-3F44-83A2-932E4673ABCD}"/>
              </a:ext>
            </a:extLst>
          </p:cNvPr>
          <p:cNvSpPr txBox="1"/>
          <p:nvPr/>
        </p:nvSpPr>
        <p:spPr>
          <a:xfrm>
            <a:off x="523833" y="1569107"/>
            <a:ext cx="575722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Century" panose="02040604050505020304" pitchFamily="18" charset="0"/>
              </a:rPr>
              <a:t>SHAP (</a:t>
            </a:r>
            <a:r>
              <a:rPr lang="en-US" b="1" dirty="0" err="1">
                <a:latin typeface="Century" panose="02040604050505020304" pitchFamily="18" charset="0"/>
              </a:rPr>
              <a:t>SHapley</a:t>
            </a:r>
            <a:r>
              <a:rPr lang="en-US" b="1" dirty="0">
                <a:latin typeface="Century" panose="02040604050505020304" pitchFamily="18" charset="0"/>
              </a:rPr>
              <a:t> Additive </a:t>
            </a:r>
            <a:r>
              <a:rPr lang="en-US" b="1" dirty="0" err="1">
                <a:latin typeface="Century" panose="02040604050505020304" pitchFamily="18" charset="0"/>
              </a:rPr>
              <a:t>exPlanations</a:t>
            </a:r>
            <a:r>
              <a:rPr lang="en-US" b="1" dirty="0">
                <a:latin typeface="Century" panose="02040604050505020304" pitchFamily="18" charset="0"/>
              </a:rPr>
              <a:t>)</a:t>
            </a:r>
            <a:r>
              <a:rPr lang="en-US" dirty="0">
                <a:latin typeface="Century" panose="02040604050505020304" pitchFamily="18" charset="0"/>
              </a:rPr>
              <a:t> is a method to explain how each feature contributes to a model’s prediction.</a:t>
            </a:r>
          </a:p>
          <a:p>
            <a:endParaRPr lang="en-US" dirty="0">
              <a:latin typeface="Century" panose="02040604050505020304" pitchFamily="18" charset="0"/>
            </a:endParaRPr>
          </a:p>
          <a:p>
            <a:endParaRPr lang="en-US" dirty="0">
              <a:latin typeface="Century" panose="02040604050505020304" pitchFamily="18" charset="0"/>
            </a:endParaRPr>
          </a:p>
          <a:p>
            <a:endParaRPr lang="en-US" dirty="0">
              <a:latin typeface="Century" panose="02040604050505020304" pitchFamily="18" charset="0"/>
            </a:endParaRPr>
          </a:p>
          <a:p>
            <a:endParaRPr lang="en-US" dirty="0">
              <a:latin typeface="Century" panose="02040604050505020304" pitchFamily="18" charset="0"/>
            </a:endParaRPr>
          </a:p>
          <a:p>
            <a:endParaRPr lang="en-US" dirty="0">
              <a:latin typeface="Century" panose="02040604050505020304" pitchFamily="18" charset="0"/>
            </a:endParaRPr>
          </a:p>
          <a:p>
            <a:br>
              <a:rPr lang="en-US" dirty="0">
                <a:latin typeface="Century" panose="02040604050505020304" pitchFamily="18" charset="0"/>
              </a:rPr>
            </a:br>
            <a:r>
              <a:rPr lang="en-US" dirty="0">
                <a:latin typeface="Century" panose="02040604050505020304" pitchFamily="18" charset="0"/>
              </a:rPr>
              <a:t>It’s based on game theory: it assigns each feature a “contribution score” showing how much it pushes the prediction up or down compared to the average.</a:t>
            </a:r>
            <a:endParaRPr lang="ru-MD" dirty="0">
              <a:latin typeface="Century" panose="02040604050505020304" pitchFamily="18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441FEB9-DA51-0245-8A2D-64B0C4CD6D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7273" y="2722095"/>
            <a:ext cx="1110343" cy="1110343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74C62A7-00B9-4F4E-8AF5-36EE9FDF4F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7529" y="5053481"/>
            <a:ext cx="1349830" cy="1349830"/>
          </a:xfrm>
          <a:prstGeom prst="rect">
            <a:avLst/>
          </a:prstGeom>
        </p:spPr>
      </p:pic>
      <p:pic>
        <p:nvPicPr>
          <p:cNvPr id="12" name="Picture 2" descr="Curved Arrow Black PNG Transparent Background, Free Download #12453 -  FreeIconsPNG">
            <a:extLst>
              <a:ext uri="{FF2B5EF4-FFF2-40B4-BE49-F238E27FC236}">
                <a16:creationId xmlns:a16="http://schemas.microsoft.com/office/drawing/2014/main" id="{6179B353-264A-1B4A-8A2E-1C0F17779B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66" t="42059" b="-1"/>
          <a:stretch/>
        </p:blipFill>
        <p:spPr bwMode="auto">
          <a:xfrm rot="12260767">
            <a:off x="9035578" y="3148346"/>
            <a:ext cx="616894" cy="340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6E7002B7-2EF8-DB44-B9CC-D4AC73D3C982}"/>
              </a:ext>
            </a:extLst>
          </p:cNvPr>
          <p:cNvCxnSpPr/>
          <p:nvPr/>
        </p:nvCxnSpPr>
        <p:spPr>
          <a:xfrm>
            <a:off x="6906827" y="3288953"/>
            <a:ext cx="93215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CC6C8DC8-10CC-C24D-9BCE-C3904A7CB532}"/>
              </a:ext>
            </a:extLst>
          </p:cNvPr>
          <p:cNvCxnSpPr>
            <a:cxnSpLocks/>
          </p:cNvCxnSpPr>
          <p:nvPr/>
        </p:nvCxnSpPr>
        <p:spPr>
          <a:xfrm>
            <a:off x="6712998" y="3832438"/>
            <a:ext cx="112598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4AED6C9C-E833-334E-89A4-305F523235D6}"/>
              </a:ext>
            </a:extLst>
          </p:cNvPr>
          <p:cNvCxnSpPr>
            <a:cxnSpLocks/>
          </p:cNvCxnSpPr>
          <p:nvPr/>
        </p:nvCxnSpPr>
        <p:spPr>
          <a:xfrm>
            <a:off x="6542102" y="1952557"/>
            <a:ext cx="129688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F1DFD017-BAD8-2D47-AA4A-34B62F1982B2}"/>
              </a:ext>
            </a:extLst>
          </p:cNvPr>
          <p:cNvCxnSpPr>
            <a:cxnSpLocks/>
          </p:cNvCxnSpPr>
          <p:nvPr/>
        </p:nvCxnSpPr>
        <p:spPr>
          <a:xfrm>
            <a:off x="9733289" y="6146147"/>
            <a:ext cx="112598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2" descr="Curved Arrow Black PNG Transparent Background, Free Download #12453 -  FreeIconsPNG">
            <a:extLst>
              <a:ext uri="{FF2B5EF4-FFF2-40B4-BE49-F238E27FC236}">
                <a16:creationId xmlns:a16="http://schemas.microsoft.com/office/drawing/2014/main" id="{B99C451F-0434-4949-84B3-CF78FF830E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56" t="49217"/>
          <a:stretch/>
        </p:blipFill>
        <p:spPr bwMode="auto">
          <a:xfrm rot="9617556" flipV="1">
            <a:off x="9420406" y="1628133"/>
            <a:ext cx="551864" cy="425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2" descr="Curved Arrow Black PNG Transparent Background, Free Download #12453 -  FreeIconsPNG">
            <a:extLst>
              <a:ext uri="{FF2B5EF4-FFF2-40B4-BE49-F238E27FC236}">
                <a16:creationId xmlns:a16="http://schemas.microsoft.com/office/drawing/2014/main" id="{6A706807-C16E-224F-A9D1-966DDB0FB6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21" t="49217"/>
          <a:stretch/>
        </p:blipFill>
        <p:spPr bwMode="auto">
          <a:xfrm rot="422262" flipH="1" flipV="1">
            <a:off x="8734522" y="3536726"/>
            <a:ext cx="568132" cy="430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82768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A9670FD-C2B0-E84A-8C83-E0453D2F34DB}"/>
              </a:ext>
            </a:extLst>
          </p:cNvPr>
          <p:cNvSpPr txBox="1"/>
          <p:nvPr/>
        </p:nvSpPr>
        <p:spPr>
          <a:xfrm>
            <a:off x="501762" y="521651"/>
            <a:ext cx="334097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MD"/>
            </a:defPPr>
            <a:lvl1pPr>
              <a:defRPr sz="4400">
                <a:latin typeface="Century" panose="02040604050505020304" pitchFamily="18" charset="0"/>
                <a:cs typeface="Courier New" panose="02070309020205020404" pitchFamily="49" charset="0"/>
              </a:defRPr>
            </a:lvl1pPr>
          </a:lstStyle>
          <a:p>
            <a:r>
              <a:rPr lang="en-US" dirty="0"/>
              <a:t>Deployment</a:t>
            </a:r>
            <a:endParaRPr lang="ru-MD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B59CB2-A54C-2C47-A4C7-864E176EE97C}"/>
              </a:ext>
            </a:extLst>
          </p:cNvPr>
          <p:cNvSpPr txBox="1"/>
          <p:nvPr/>
        </p:nvSpPr>
        <p:spPr>
          <a:xfrm>
            <a:off x="1868488" y="3917366"/>
            <a:ext cx="838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i="1" u="sng" dirty="0">
                <a:latin typeface="Courier New" panose="02070309020205020404" pitchFamily="49" charset="0"/>
                <a:cs typeface="Courier New" panose="02070309020205020404" pitchFamily="49" charset="0"/>
                <a:hlinkClick r:id="rId2"/>
              </a:rPr>
              <a:t>Demonstration</a:t>
            </a:r>
            <a:endParaRPr lang="ru-MD" sz="3200" i="1" u="sng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3D965F-2C93-D64B-B1BC-C1443BB3D91A}"/>
              </a:ext>
            </a:extLst>
          </p:cNvPr>
          <p:cNvSpPr txBox="1"/>
          <p:nvPr/>
        </p:nvSpPr>
        <p:spPr>
          <a:xfrm>
            <a:off x="1868488" y="2199397"/>
            <a:ext cx="838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i="1" u="sng" dirty="0">
                <a:latin typeface="Courier New" panose="02070309020205020404" pitchFamily="49" charset="0"/>
                <a:cs typeface="Courier New" panose="02070309020205020404" pitchFamily="49" charset="0"/>
                <a:hlinkClick r:id="rId3"/>
              </a:rPr>
              <a:t>Deploy</a:t>
            </a:r>
            <a:endParaRPr lang="ru-MD" sz="3200" i="1" u="sng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42911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5436CE70-761D-DC4F-8C46-6A4667189F29}"/>
              </a:ext>
            </a:extLst>
          </p:cNvPr>
          <p:cNvGrpSpPr/>
          <p:nvPr/>
        </p:nvGrpSpPr>
        <p:grpSpPr>
          <a:xfrm>
            <a:off x="669701" y="180304"/>
            <a:ext cx="10852597" cy="6104586"/>
            <a:chOff x="0" y="0"/>
            <a:chExt cx="12192000" cy="6858000"/>
          </a:xfrm>
        </p:grpSpPr>
        <p:pic>
          <p:nvPicPr>
            <p:cNvPr id="12" name="Рисунок 11">
              <a:extLst>
                <a:ext uri="{FF2B5EF4-FFF2-40B4-BE49-F238E27FC236}">
                  <a16:creationId xmlns:a16="http://schemas.microsoft.com/office/drawing/2014/main" id="{3D29F17F-7977-CE44-9E51-DC23464CCE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599339"/>
            </a:xfrm>
            <a:prstGeom prst="rect">
              <a:avLst/>
            </a:prstGeom>
          </p:spPr>
        </p:pic>
        <p:grpSp>
          <p:nvGrpSpPr>
            <p:cNvPr id="8" name="Группа 7">
              <a:extLst>
                <a:ext uri="{FF2B5EF4-FFF2-40B4-BE49-F238E27FC236}">
                  <a16:creationId xmlns:a16="http://schemas.microsoft.com/office/drawing/2014/main" id="{40D99D71-6E7D-5342-91CE-A46A5514955C}"/>
                </a:ext>
              </a:extLst>
            </p:cNvPr>
            <p:cNvGrpSpPr/>
            <p:nvPr/>
          </p:nvGrpSpPr>
          <p:grpSpPr>
            <a:xfrm>
              <a:off x="0" y="0"/>
              <a:ext cx="11066526" cy="6858000"/>
              <a:chOff x="0" y="0"/>
              <a:chExt cx="11066526" cy="6858000"/>
            </a:xfrm>
          </p:grpSpPr>
          <p:pic>
            <p:nvPicPr>
              <p:cNvPr id="3" name="Рисунок 2">
                <a:extLst>
                  <a:ext uri="{FF2B5EF4-FFF2-40B4-BE49-F238E27FC236}">
                    <a16:creationId xmlns:a16="http://schemas.microsoft.com/office/drawing/2014/main" id="{6D651D3D-BFD8-DE4C-A483-587955C7076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r="29315"/>
              <a:stretch/>
            </p:blipFill>
            <p:spPr>
              <a:xfrm>
                <a:off x="0" y="0"/>
                <a:ext cx="8617907" cy="6557754"/>
              </a:xfrm>
              <a:prstGeom prst="rect">
                <a:avLst/>
              </a:prstGeom>
            </p:spPr>
          </p:pic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393EF61-F113-2243-8657-FF2FA3846A26}"/>
                  </a:ext>
                </a:extLst>
              </p:cNvPr>
              <p:cNvSpPr txBox="1"/>
              <p:nvPr/>
            </p:nvSpPr>
            <p:spPr>
              <a:xfrm>
                <a:off x="1378226" y="4068418"/>
                <a:ext cx="110639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4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Moroz</a:t>
                </a:r>
                <a:endParaRPr lang="ru-MD" sz="24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8FE13C6-9055-BB49-B405-D46EE6E9BAA6}"/>
                  </a:ext>
                </a:extLst>
              </p:cNvPr>
              <p:cNvSpPr txBox="1"/>
              <p:nvPr/>
            </p:nvSpPr>
            <p:spPr>
              <a:xfrm>
                <a:off x="3956368" y="6396335"/>
                <a:ext cx="129073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4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Mihova</a:t>
                </a:r>
                <a:endParaRPr lang="ru-MD" sz="24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00F407F-F047-7D46-A475-3BDD09B87A60}"/>
                  </a:ext>
                </a:extLst>
              </p:cNvPr>
              <p:cNvSpPr txBox="1"/>
              <p:nvPr/>
            </p:nvSpPr>
            <p:spPr>
              <a:xfrm>
                <a:off x="6271244" y="4068418"/>
                <a:ext cx="202811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4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Kuzmitkaia</a:t>
                </a:r>
                <a:endParaRPr lang="ru-MD" sz="24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765327C-4303-E241-A28B-1E924857F9F3}"/>
                  </a:ext>
                </a:extLst>
              </p:cNvPr>
              <p:cNvSpPr txBox="1"/>
              <p:nvPr/>
            </p:nvSpPr>
            <p:spPr>
              <a:xfrm>
                <a:off x="9296996" y="6396335"/>
                <a:ext cx="129073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4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Kornev</a:t>
                </a:r>
                <a:endParaRPr lang="ru-MD" sz="24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4" name="Прямоугольник 3">
                <a:extLst>
                  <a:ext uri="{FF2B5EF4-FFF2-40B4-BE49-F238E27FC236}">
                    <a16:creationId xmlns:a16="http://schemas.microsoft.com/office/drawing/2014/main" id="{2BD1121B-6BC2-5147-A6A7-2747CA726350}"/>
                  </a:ext>
                </a:extLst>
              </p:cNvPr>
              <p:cNvSpPr/>
              <p:nvPr/>
            </p:nvSpPr>
            <p:spPr>
              <a:xfrm>
                <a:off x="1078805" y="3892988"/>
                <a:ext cx="1705233" cy="637094"/>
              </a:xfrm>
              <a:prstGeom prst="rect">
                <a:avLst/>
              </a:prstGeom>
              <a:solidFill>
                <a:srgbClr val="DAE3F4"/>
              </a:solidFill>
              <a:ln>
                <a:solidFill>
                  <a:srgbClr val="DAE3F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MD"/>
              </a:p>
            </p:txBody>
          </p:sp>
          <p:sp>
            <p:nvSpPr>
              <p:cNvPr id="9" name="Прямоугольник 8">
                <a:extLst>
                  <a:ext uri="{FF2B5EF4-FFF2-40B4-BE49-F238E27FC236}">
                    <a16:creationId xmlns:a16="http://schemas.microsoft.com/office/drawing/2014/main" id="{7219F205-0E4B-3D47-A26F-E51457E463C1}"/>
                  </a:ext>
                </a:extLst>
              </p:cNvPr>
              <p:cNvSpPr/>
              <p:nvPr/>
            </p:nvSpPr>
            <p:spPr>
              <a:xfrm>
                <a:off x="3666587" y="6176407"/>
                <a:ext cx="1705233" cy="681592"/>
              </a:xfrm>
              <a:prstGeom prst="rect">
                <a:avLst/>
              </a:prstGeom>
              <a:solidFill>
                <a:srgbClr val="DAE3F4"/>
              </a:solidFill>
              <a:ln>
                <a:solidFill>
                  <a:srgbClr val="DAE3F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MD"/>
              </a:p>
            </p:txBody>
          </p:sp>
          <p:sp>
            <p:nvSpPr>
              <p:cNvPr id="10" name="Прямоугольник 9">
                <a:extLst>
                  <a:ext uri="{FF2B5EF4-FFF2-40B4-BE49-F238E27FC236}">
                    <a16:creationId xmlns:a16="http://schemas.microsoft.com/office/drawing/2014/main" id="{D7C41338-72B4-DB4A-9612-8F653E81972B}"/>
                  </a:ext>
                </a:extLst>
              </p:cNvPr>
              <p:cNvSpPr/>
              <p:nvPr/>
            </p:nvSpPr>
            <p:spPr>
              <a:xfrm>
                <a:off x="6271245" y="3886686"/>
                <a:ext cx="2028119" cy="637094"/>
              </a:xfrm>
              <a:prstGeom prst="rect">
                <a:avLst/>
              </a:prstGeom>
              <a:solidFill>
                <a:srgbClr val="DAE3F4"/>
              </a:solidFill>
              <a:ln>
                <a:solidFill>
                  <a:srgbClr val="DAE3F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MD"/>
              </a:p>
            </p:txBody>
          </p:sp>
          <p:sp>
            <p:nvSpPr>
              <p:cNvPr id="11" name="Прямоугольник 10">
                <a:extLst>
                  <a:ext uri="{FF2B5EF4-FFF2-40B4-BE49-F238E27FC236}">
                    <a16:creationId xmlns:a16="http://schemas.microsoft.com/office/drawing/2014/main" id="{2165E1DD-1190-184C-8EEE-75E5BDC5D8A0}"/>
                  </a:ext>
                </a:extLst>
              </p:cNvPr>
              <p:cNvSpPr/>
              <p:nvPr/>
            </p:nvSpPr>
            <p:spPr>
              <a:xfrm>
                <a:off x="9038407" y="6176408"/>
                <a:ext cx="2028119" cy="681592"/>
              </a:xfrm>
              <a:prstGeom prst="rect">
                <a:avLst/>
              </a:prstGeom>
              <a:solidFill>
                <a:srgbClr val="DAE3F4"/>
              </a:solidFill>
              <a:ln>
                <a:solidFill>
                  <a:srgbClr val="DAE3F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MD"/>
              </a:p>
            </p:txBody>
          </p:sp>
        </p:grpSp>
      </p:grp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D8148C12-D6AB-784F-8B62-E17F82D9801A}"/>
              </a:ext>
            </a:extLst>
          </p:cNvPr>
          <p:cNvSpPr/>
          <p:nvPr/>
        </p:nvSpPr>
        <p:spPr>
          <a:xfrm>
            <a:off x="953035" y="633876"/>
            <a:ext cx="2704563" cy="567103"/>
          </a:xfrm>
          <a:prstGeom prst="rect">
            <a:avLst/>
          </a:prstGeom>
          <a:solidFill>
            <a:srgbClr val="DAE3F4"/>
          </a:solidFill>
          <a:ln>
            <a:solidFill>
              <a:srgbClr val="DAE3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MD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2CB1AFA-BD47-6A44-AB13-8FBFCB1244A3}"/>
              </a:ext>
            </a:extLst>
          </p:cNvPr>
          <p:cNvSpPr txBox="1"/>
          <p:nvPr/>
        </p:nvSpPr>
        <p:spPr>
          <a:xfrm>
            <a:off x="8731862" y="5602130"/>
            <a:ext cx="17615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MD"/>
            </a:defPPr>
            <a:lvl1pPr algn="ctr">
              <a:defRPr sz="2400">
                <a:latin typeface="Century" panose="02040604050505020304" pitchFamily="18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 b="1" dirty="0"/>
              <a:t>Andrei</a:t>
            </a:r>
          </a:p>
          <a:p>
            <a:r>
              <a:rPr lang="en-US" b="1" dirty="0" err="1"/>
              <a:t>Kornev</a:t>
            </a:r>
            <a:endParaRPr lang="ru-MD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8984AC-D362-284E-B132-073C44CC81D8}"/>
              </a:ext>
            </a:extLst>
          </p:cNvPr>
          <p:cNvSpPr txBox="1"/>
          <p:nvPr/>
        </p:nvSpPr>
        <p:spPr>
          <a:xfrm>
            <a:off x="6132092" y="3508054"/>
            <a:ext cx="20451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MD"/>
            </a:defPPr>
            <a:lvl1pPr algn="ctr">
              <a:defRPr sz="2400">
                <a:latin typeface="Century" panose="02040604050505020304" pitchFamily="18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 b="1" dirty="0"/>
              <a:t>Maia</a:t>
            </a:r>
          </a:p>
          <a:p>
            <a:r>
              <a:rPr lang="en-US" b="1" dirty="0" err="1"/>
              <a:t>Kuzmitkaia</a:t>
            </a:r>
            <a:endParaRPr lang="ru-MD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41D6242-848D-4242-8CF5-898FD5F198A3}"/>
              </a:ext>
            </a:extLst>
          </p:cNvPr>
          <p:cNvSpPr txBox="1"/>
          <p:nvPr/>
        </p:nvSpPr>
        <p:spPr>
          <a:xfrm>
            <a:off x="3885113" y="5577590"/>
            <a:ext cx="17615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MD"/>
            </a:defPPr>
            <a:lvl1pPr algn="ctr">
              <a:defRPr sz="2400">
                <a:latin typeface="Century" panose="02040604050505020304" pitchFamily="18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 b="1" dirty="0"/>
              <a:t>Rima</a:t>
            </a:r>
          </a:p>
          <a:p>
            <a:r>
              <a:rPr lang="en-US" b="1" dirty="0" err="1"/>
              <a:t>Mihova</a:t>
            </a:r>
            <a:endParaRPr lang="en-US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83CB3E7-3088-4343-8CE1-903812C855A0}"/>
              </a:ext>
            </a:extLst>
          </p:cNvPr>
          <p:cNvSpPr txBox="1"/>
          <p:nvPr/>
        </p:nvSpPr>
        <p:spPr>
          <a:xfrm>
            <a:off x="1508156" y="3530187"/>
            <a:ext cx="17615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err="1">
                <a:latin typeface="Century" panose="02040604050505020304" pitchFamily="18" charset="0"/>
                <a:ea typeface="Helvetica Neue" panose="02000503000000020004" pitchFamily="2" charset="0"/>
                <a:cs typeface="Helvetica Neue" panose="02000503000000020004" pitchFamily="2" charset="0"/>
              </a:rPr>
              <a:t>Alexandr</a:t>
            </a:r>
            <a:endParaRPr lang="en-US" sz="2400" b="1" dirty="0">
              <a:latin typeface="Century" panose="02040604050505020304" pitchFamily="18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algn="ctr"/>
            <a:r>
              <a:rPr lang="en-US" sz="2400" b="1" dirty="0" err="1">
                <a:latin typeface="Century" panose="02040604050505020304" pitchFamily="18" charset="0"/>
                <a:ea typeface="Helvetica Neue" panose="02000503000000020004" pitchFamily="2" charset="0"/>
                <a:cs typeface="Helvetica Neue" panose="02000503000000020004" pitchFamily="2" charset="0"/>
              </a:rPr>
              <a:t>Moroz</a:t>
            </a:r>
            <a:endParaRPr lang="en-US" sz="2400" b="1" dirty="0">
              <a:latin typeface="Century" panose="02040604050505020304" pitchFamily="18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D32279-0010-C345-8EAD-091572B6C944}"/>
              </a:ext>
            </a:extLst>
          </p:cNvPr>
          <p:cNvSpPr txBox="1"/>
          <p:nvPr/>
        </p:nvSpPr>
        <p:spPr>
          <a:xfrm>
            <a:off x="501762" y="521651"/>
            <a:ext cx="279865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latin typeface="Century" panose="02040604050505020304" pitchFamily="18" charset="0"/>
                <a:cs typeface="Courier New" panose="02070309020205020404" pitchFamily="49" charset="0"/>
              </a:rPr>
              <a:t>Our Team</a:t>
            </a:r>
            <a:endParaRPr lang="ru-MD" sz="4400" dirty="0">
              <a:latin typeface="Century" panose="02040604050505020304" pitchFamily="18" charset="0"/>
              <a:cs typeface="Courier New" panose="02070309020205020404" pitchFamily="49" charset="0"/>
            </a:endParaRPr>
          </a:p>
        </p:txBody>
      </p:sp>
      <p:pic>
        <p:nvPicPr>
          <p:cNvPr id="7170" name="Picture 2" descr="Curved Arrow Black PNG Transparent Background, Free Download #12453 -  FreeIconsPNG">
            <a:extLst>
              <a:ext uri="{FF2B5EF4-FFF2-40B4-BE49-F238E27FC236}">
                <a16:creationId xmlns:a16="http://schemas.microsoft.com/office/drawing/2014/main" id="{63BBFB25-5F39-9D46-9846-60EE61D218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377"/>
          <a:stretch/>
        </p:blipFill>
        <p:spPr bwMode="auto">
          <a:xfrm rot="19722033" flipV="1">
            <a:off x="396036" y="3161489"/>
            <a:ext cx="1087027" cy="700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" descr="Curved Arrow Black PNG Transparent Background, Free Download #12453 -  FreeIconsPNG">
            <a:extLst>
              <a:ext uri="{FF2B5EF4-FFF2-40B4-BE49-F238E27FC236}">
                <a16:creationId xmlns:a16="http://schemas.microsoft.com/office/drawing/2014/main" id="{EEC7756D-2A8D-024A-A75F-B5B467C9D8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058"/>
          <a:stretch/>
        </p:blipFill>
        <p:spPr bwMode="auto">
          <a:xfrm rot="18827964">
            <a:off x="3163826" y="5545667"/>
            <a:ext cx="1100607" cy="513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" descr="Curved Arrow Black PNG Transparent Background, Free Download #12453 -  FreeIconsPNG">
            <a:extLst>
              <a:ext uri="{FF2B5EF4-FFF2-40B4-BE49-F238E27FC236}">
                <a16:creationId xmlns:a16="http://schemas.microsoft.com/office/drawing/2014/main" id="{27971014-702B-E748-BC25-25F9BD91A5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058"/>
          <a:stretch/>
        </p:blipFill>
        <p:spPr bwMode="auto">
          <a:xfrm rot="2297096">
            <a:off x="5061092" y="1944883"/>
            <a:ext cx="1100607" cy="513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2" descr="Curved Arrow Black PNG Transparent Background, Free Download #12453 -  FreeIconsPNG">
            <a:extLst>
              <a:ext uri="{FF2B5EF4-FFF2-40B4-BE49-F238E27FC236}">
                <a16:creationId xmlns:a16="http://schemas.microsoft.com/office/drawing/2014/main" id="{B8BF1AC4-A44A-A94D-A186-26D59FBE0D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377"/>
          <a:stretch/>
        </p:blipFill>
        <p:spPr bwMode="auto">
          <a:xfrm rot="7723465" flipV="1">
            <a:off x="10382032" y="3371653"/>
            <a:ext cx="1087027" cy="700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B634341F-0808-C145-B49E-D91DCA482802}"/>
              </a:ext>
            </a:extLst>
          </p:cNvPr>
          <p:cNvSpPr txBox="1"/>
          <p:nvPr/>
        </p:nvSpPr>
        <p:spPr>
          <a:xfrm rot="20571396">
            <a:off x="2255387" y="5377528"/>
            <a:ext cx="13768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entury" panose="02040604050505020304" pitchFamily="18" charset="0"/>
              </a:rPr>
              <a:t>Backend Developer</a:t>
            </a:r>
            <a:endParaRPr lang="ru-MD" sz="1600" dirty="0">
              <a:latin typeface="Century" panose="02040604050505020304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B1F9423-072A-0841-8EC1-09F4C965F7B0}"/>
              </a:ext>
            </a:extLst>
          </p:cNvPr>
          <p:cNvSpPr txBox="1"/>
          <p:nvPr/>
        </p:nvSpPr>
        <p:spPr>
          <a:xfrm rot="556472">
            <a:off x="4762516" y="1259638"/>
            <a:ext cx="16977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entury" panose="02040604050505020304" pitchFamily="18" charset="0"/>
              </a:rPr>
              <a:t>Data Scientist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FF727AC-3D28-0B44-BA84-49A5F3894368}"/>
              </a:ext>
            </a:extLst>
          </p:cNvPr>
          <p:cNvSpPr txBox="1"/>
          <p:nvPr/>
        </p:nvSpPr>
        <p:spPr>
          <a:xfrm rot="19912914">
            <a:off x="10074433" y="2578961"/>
            <a:ext cx="13768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entury" panose="02040604050505020304" pitchFamily="18" charset="0"/>
              </a:rPr>
              <a:t>Frontend Developer</a:t>
            </a:r>
            <a:endParaRPr lang="ru-MD" sz="1600" dirty="0">
              <a:latin typeface="Century" panose="02040604050505020304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F7C7D16-ABFA-E843-80AD-A67088747A95}"/>
              </a:ext>
            </a:extLst>
          </p:cNvPr>
          <p:cNvSpPr txBox="1"/>
          <p:nvPr/>
        </p:nvSpPr>
        <p:spPr>
          <a:xfrm>
            <a:off x="47572" y="4013001"/>
            <a:ext cx="15824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entury" panose="02040604050505020304" pitchFamily="18" charset="0"/>
              </a:rPr>
              <a:t>Team Lead</a:t>
            </a:r>
          </a:p>
          <a:p>
            <a:pPr algn="ctr"/>
            <a:r>
              <a:rPr lang="en-US" sz="1600" dirty="0">
                <a:latin typeface="Century" panose="02040604050505020304" pitchFamily="18" charset="0"/>
              </a:rPr>
              <a:t>AI/ML</a:t>
            </a:r>
            <a:endParaRPr lang="ru-MD" sz="1600" dirty="0">
              <a:latin typeface="Century" panose="02040604050505020304" pitchFamily="18" charset="0"/>
            </a:endParaRP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928238AB-F4AF-8F41-9D64-985BDEE27E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17086" y="5030432"/>
            <a:ext cx="643496" cy="643496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007A71DA-3C99-8C4C-8BD0-B0ECE61205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8613546" y="3178052"/>
            <a:ext cx="772328" cy="772328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8D0256DF-0B44-7742-867B-F19506B5880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1329" y="4944261"/>
            <a:ext cx="744041" cy="744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9395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7958C5B-9BB8-5E49-A5A4-63087F9C3637}"/>
              </a:ext>
            </a:extLst>
          </p:cNvPr>
          <p:cNvSpPr txBox="1"/>
          <p:nvPr/>
        </p:nvSpPr>
        <p:spPr>
          <a:xfrm>
            <a:off x="2202959" y="5449850"/>
            <a:ext cx="10470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latin typeface="Century" panose="02040604050505020304" pitchFamily="18" charset="0"/>
              </a:rPr>
              <a:t>App</a:t>
            </a:r>
            <a:endParaRPr lang="ru-MD" sz="3600" dirty="0">
              <a:latin typeface="Century" panose="020406040505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1DB387-9250-DD4D-B202-9CAA08AB0D6A}"/>
              </a:ext>
            </a:extLst>
          </p:cNvPr>
          <p:cNvSpPr txBox="1"/>
          <p:nvPr/>
        </p:nvSpPr>
        <p:spPr>
          <a:xfrm>
            <a:off x="8581907" y="5449849"/>
            <a:ext cx="17924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latin typeface="Century" panose="02040604050505020304" pitchFamily="18" charset="0"/>
              </a:rPr>
              <a:t>GitHub</a:t>
            </a:r>
            <a:endParaRPr lang="ru-MD" sz="3600" dirty="0">
              <a:latin typeface="Century" panose="02040604050505020304" pitchFamily="18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E7ECB20-7A50-6B41-AC87-585380EB8D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6653" y="1274380"/>
            <a:ext cx="3922986" cy="3922986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7C48110-EE09-244C-9C47-B184F13666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361" y="1274380"/>
            <a:ext cx="3922987" cy="3922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64283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1171</TotalTime>
  <Words>519</Words>
  <Application>Microsoft Macintosh PowerPoint</Application>
  <PresentationFormat>Широкоэкранный</PresentationFormat>
  <Paragraphs>183</Paragraphs>
  <Slides>19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Century</vt:lpstr>
      <vt:lpstr>Courier New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Microsoft Office User</dc:creator>
  <cp:lastModifiedBy>Microsoft Office User</cp:lastModifiedBy>
  <cp:revision>154</cp:revision>
  <dcterms:created xsi:type="dcterms:W3CDTF">2025-09-13T16:18:54Z</dcterms:created>
  <dcterms:modified xsi:type="dcterms:W3CDTF">2025-10-30T10:41:18Z</dcterms:modified>
</cp:coreProperties>
</file>